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31"/>
  </p:notesMasterIdLst>
  <p:sldIdLst>
    <p:sldId id="256" r:id="rId2"/>
    <p:sldId id="714" r:id="rId3"/>
    <p:sldId id="713" r:id="rId4"/>
    <p:sldId id="728" r:id="rId5"/>
    <p:sldId id="718" r:id="rId6"/>
    <p:sldId id="729" r:id="rId7"/>
    <p:sldId id="730" r:id="rId8"/>
    <p:sldId id="719" r:id="rId9"/>
    <p:sldId id="731" r:id="rId10"/>
    <p:sldId id="740" r:id="rId11"/>
    <p:sldId id="732" r:id="rId12"/>
    <p:sldId id="741" r:id="rId13"/>
    <p:sldId id="742" r:id="rId14"/>
    <p:sldId id="733" r:id="rId15"/>
    <p:sldId id="720" r:id="rId16"/>
    <p:sldId id="721" r:id="rId17"/>
    <p:sldId id="734" r:id="rId18"/>
    <p:sldId id="722" r:id="rId19"/>
    <p:sldId id="735" r:id="rId20"/>
    <p:sldId id="723" r:id="rId21"/>
    <p:sldId id="736" r:id="rId22"/>
    <p:sldId id="724" r:id="rId23"/>
    <p:sldId id="738" r:id="rId24"/>
    <p:sldId id="743" r:id="rId25"/>
    <p:sldId id="737" r:id="rId26"/>
    <p:sldId id="739" r:id="rId27"/>
    <p:sldId id="744" r:id="rId28"/>
    <p:sldId id="726" r:id="rId29"/>
    <p:sldId id="30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77" d="100"/>
          <a:sy n="77" d="100"/>
        </p:scale>
        <p:origin x="802" y="72"/>
      </p:cViewPr>
      <p:guideLst/>
    </p:cSldViewPr>
  </p:slideViewPr>
  <p:notesTextViewPr>
    <p:cViewPr>
      <p:scale>
        <a:sx n="75" d="100"/>
        <a:sy n="75" d="100"/>
      </p:scale>
      <p:origin x="0" y="0"/>
    </p:cViewPr>
  </p:notesTextViewPr>
  <p:sorterViewPr>
    <p:cViewPr>
      <p:scale>
        <a:sx n="33" d="100"/>
        <a:sy n="33"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23-09-2025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25</a:t>
            </a:fld>
            <a:endParaRPr lang="en-IN" dirty="0"/>
          </a:p>
        </p:txBody>
      </p:sp>
    </p:spTree>
    <p:extLst>
      <p:ext uri="{BB962C8B-B14F-4D97-AF65-F5344CB8AC3E}">
        <p14:creationId xmlns:p14="http://schemas.microsoft.com/office/powerpoint/2010/main" val="18292263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blog.keliweb.it/2016/01/come-scegliere-il-miglior-cms-per-e-commerce/" TargetMode="External"/><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courses.lumenlearning.com/wmopen-principlesofmarketing/chapter/reading-marketing-defined/" TargetMode="External"/><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hyperlink" Target="https://marketingmanagementbba.blogspot.com/2016/02/" TargetMode="External"/><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11.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11.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g"/><Relationship Id="rId1" Type="http://schemas.openxmlformats.org/officeDocument/2006/relationships/slideLayout" Target="../slideLayouts/slideLayout10.xml"/><Relationship Id="rId6" Type="http://schemas.openxmlformats.org/officeDocument/2006/relationships/hyperlink" Target="https://creativecommons.org/licenses/by-sa/3.0/" TargetMode="External"/><Relationship Id="rId5" Type="http://schemas.openxmlformats.org/officeDocument/2006/relationships/hyperlink" Target="https://en.wikipedia.org/wiki/DBSCAN" TargetMode="Externa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2.jpg"/><Relationship Id="rId4" Type="http://schemas.openxmlformats.org/officeDocument/2006/relationships/image" Target="../media/image3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A computer mouse connected to a word&#10;&#10;AI-generated content may be incorrect.">
            <a:extLst>
              <a:ext uri="{FF2B5EF4-FFF2-40B4-BE49-F238E27FC236}">
                <a16:creationId xmlns:a16="http://schemas.microsoft.com/office/drawing/2014/main" id="{D704F65C-EAA8-4A5B-680D-546C21CBE013}"/>
              </a:ext>
            </a:extLst>
          </p:cNvPr>
          <p:cNvPicPr>
            <a:picLocks noChangeAspect="1"/>
          </p:cNvPicPr>
          <p:nvPr/>
        </p:nvPicPr>
        <p:blipFill>
          <a:blip r:embed="rId2">
            <a:alphaModFix amt="35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A225F15-9B21-01FF-BD6D-D04F30F7A091}"/>
              </a:ext>
            </a:extLst>
          </p:cNvPr>
          <p:cNvSpPr/>
          <p:nvPr/>
        </p:nvSpPr>
        <p:spPr>
          <a:xfrm>
            <a:off x="-278075" y="4530992"/>
            <a:ext cx="12748149" cy="6559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0" b="1" dirty="0">
              <a:latin typeface="Calibri" panose="020F0502020204030204" pitchFamily="34" charset="0"/>
            </a:endParaRPr>
          </a:p>
        </p:txBody>
      </p:sp>
      <p:sp>
        <p:nvSpPr>
          <p:cNvPr id="3" name="TextBox 2">
            <a:extLst>
              <a:ext uri="{FF2B5EF4-FFF2-40B4-BE49-F238E27FC236}">
                <a16:creationId xmlns:a16="http://schemas.microsoft.com/office/drawing/2014/main" id="{0E0E0907-550C-3C8D-25FB-B2230DEA0ADF}"/>
              </a:ext>
            </a:extLst>
          </p:cNvPr>
          <p:cNvSpPr txBox="1"/>
          <p:nvPr/>
        </p:nvSpPr>
        <p:spPr>
          <a:xfrm>
            <a:off x="7284720" y="5596882"/>
            <a:ext cx="4460240" cy="523220"/>
          </a:xfrm>
          <a:prstGeom prst="rect">
            <a:avLst/>
          </a:prstGeom>
          <a:noFill/>
        </p:spPr>
        <p:txBody>
          <a:bodyPr wrap="square" rtlCol="0">
            <a:spAutoFit/>
          </a:bodyPr>
          <a:lstStyle/>
          <a:p>
            <a:r>
              <a:rPr lang="en-US" sz="2800" dirty="0">
                <a:solidFill>
                  <a:schemeClr val="bg1"/>
                </a:solidFill>
                <a:latin typeface="Rockwell" panose="02060603020205020403" pitchFamily="18" charset="0"/>
              </a:rPr>
              <a:t>Presented By :Gopal Baur</a:t>
            </a:r>
            <a:endParaRPr lang="en-IN" sz="2800" dirty="0">
              <a:solidFill>
                <a:schemeClr val="bg1"/>
              </a:solidFill>
              <a:latin typeface="Rockwell" panose="02060603020205020403" pitchFamily="18" charset="0"/>
            </a:endParaRPr>
          </a:p>
        </p:txBody>
      </p:sp>
      <p:sp>
        <p:nvSpPr>
          <p:cNvPr id="17" name="TextBox 16">
            <a:extLst>
              <a:ext uri="{FF2B5EF4-FFF2-40B4-BE49-F238E27FC236}">
                <a16:creationId xmlns:a16="http://schemas.microsoft.com/office/drawing/2014/main" id="{104190A4-4CAB-F6F5-F8B4-31F6405AB990}"/>
              </a:ext>
            </a:extLst>
          </p:cNvPr>
          <p:cNvSpPr txBox="1"/>
          <p:nvPr/>
        </p:nvSpPr>
        <p:spPr>
          <a:xfrm>
            <a:off x="-99393" y="3981820"/>
            <a:ext cx="12191999" cy="1754326"/>
          </a:xfrm>
          <a:prstGeom prst="rect">
            <a:avLst/>
          </a:prstGeom>
          <a:noFill/>
        </p:spPr>
        <p:txBody>
          <a:bodyPr wrap="square">
            <a:spAutoFit/>
          </a:bodyPr>
          <a:lstStyle/>
          <a:p>
            <a:pPr algn="ctr"/>
            <a:r>
              <a:rPr lang="en-US" sz="3600" b="1" dirty="0">
                <a:solidFill>
                  <a:schemeClr val="bg1"/>
                </a:solidFill>
              </a:rPr>
              <a:t>Project:-E- commerce Customer Segmentation and Prediction</a:t>
            </a:r>
          </a:p>
          <a:p>
            <a:pPr algn="ctr"/>
            <a:endParaRPr lang="en-US" sz="7200" b="1" dirty="0">
              <a:solidFill>
                <a:schemeClr val="bg1"/>
              </a:solidFill>
              <a:latin typeface="Calibri" panose="020F0502020204030204" pitchFamily="34" charset="0"/>
            </a:endParaRPr>
          </a:p>
        </p:txBody>
      </p:sp>
    </p:spTree>
    <p:extLst>
      <p:ext uri="{BB962C8B-B14F-4D97-AF65-F5344CB8AC3E}">
        <p14:creationId xmlns:p14="http://schemas.microsoft.com/office/powerpoint/2010/main" val="1024334718"/>
      </p:ext>
    </p:extLst>
  </p:cSld>
  <p:clrMapOvr>
    <a:masterClrMapping/>
  </p:clrMapOvr>
  <mc:AlternateContent xmlns:mc="http://schemas.openxmlformats.org/markup-compatibility/2006">
    <mc:Choice xmlns:p14="http://schemas.microsoft.com/office/powerpoint/2010/main" Requires="p14">
      <p:transition spd="slow" p14:dur="3400" advTm="0">
        <p14:reveal/>
      </p:transition>
    </mc:Choice>
    <mc:Fallback>
      <p:transition spd="slow" advTm="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768333" y="492335"/>
            <a:ext cx="10834233" cy="612775"/>
          </a:xfrm>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sz="half" idx="1"/>
          </p:nvPr>
        </p:nvSpPr>
        <p:spPr>
          <a:xfrm>
            <a:off x="678881" y="1216441"/>
            <a:ext cx="5340919" cy="4842836"/>
          </a:xfrm>
        </p:spPr>
        <p:txBody>
          <a:bodyPr>
            <a:normAutofit/>
          </a:bodyPr>
          <a:lstStyle/>
          <a:p>
            <a:r>
              <a:rPr lang="en-US" sz="2400" dirty="0"/>
              <a:t>Introduction</a:t>
            </a:r>
          </a:p>
          <a:p>
            <a:r>
              <a:rPr lang="en-IN" sz="2400" dirty="0"/>
              <a:t>Necessary libraries import</a:t>
            </a:r>
          </a:p>
          <a:p>
            <a:r>
              <a:rPr lang="en-US" sz="2400" dirty="0"/>
              <a:t>Data Collection and Preprocessing</a:t>
            </a:r>
            <a:endParaRPr lang="en-IN" sz="2400" dirty="0"/>
          </a:p>
          <a:p>
            <a:r>
              <a:rPr lang="en-US" sz="2400" dirty="0"/>
              <a:t>Exploratory Data Analysis (EDA)</a:t>
            </a:r>
          </a:p>
          <a:p>
            <a:r>
              <a:rPr lang="en-US" sz="2400" dirty="0"/>
              <a:t>Data Cleaning and Transformation </a:t>
            </a:r>
            <a:endParaRPr lang="en-IN" sz="2400" dirty="0"/>
          </a:p>
          <a:p>
            <a:r>
              <a:rPr lang="en-US" sz="2400" dirty="0"/>
              <a:t>Feature Engineering </a:t>
            </a:r>
          </a:p>
          <a:p>
            <a:r>
              <a:rPr lang="en-IN" sz="2400" dirty="0"/>
              <a:t>RFM Analysis: Theory and Process</a:t>
            </a:r>
          </a:p>
          <a:p>
            <a:r>
              <a:rPr lang="en-IN" sz="2400" dirty="0"/>
              <a:t>RFM Analysis: Results/Visualization</a:t>
            </a:r>
          </a:p>
          <a:p>
            <a:r>
              <a:rPr lang="en-IN" sz="2400" dirty="0"/>
              <a:t>Data scaling</a:t>
            </a:r>
          </a:p>
          <a:p>
            <a:endParaRPr lang="en-IN" sz="2400" dirty="0"/>
          </a:p>
        </p:txBody>
      </p:sp>
      <p:sp>
        <p:nvSpPr>
          <p:cNvPr id="5" name="Content Placeholder 4">
            <a:extLst>
              <a:ext uri="{FF2B5EF4-FFF2-40B4-BE49-F238E27FC236}">
                <a16:creationId xmlns:a16="http://schemas.microsoft.com/office/drawing/2014/main" id="{AE95806C-EC8A-C459-9EC3-89AE05CC1B1A}"/>
              </a:ext>
            </a:extLst>
          </p:cNvPr>
          <p:cNvSpPr>
            <a:spLocks noGrp="1"/>
          </p:cNvSpPr>
          <p:nvPr>
            <p:ph sz="half" idx="2"/>
          </p:nvPr>
        </p:nvSpPr>
        <p:spPr>
          <a:xfrm>
            <a:off x="5862320" y="1216441"/>
            <a:ext cx="6126479" cy="4842836"/>
          </a:xfrm>
        </p:spPr>
        <p:txBody>
          <a:bodyPr>
            <a:noAutofit/>
          </a:bodyPr>
          <a:lstStyle/>
          <a:p>
            <a:r>
              <a:rPr lang="en-IN" sz="2400" dirty="0"/>
              <a:t>Clustering Algorithms: Introduction</a:t>
            </a:r>
          </a:p>
          <a:p>
            <a:r>
              <a:rPr lang="en-IN" sz="2400" dirty="0"/>
              <a:t>K-Means Clustering Explained</a:t>
            </a:r>
          </a:p>
          <a:p>
            <a:r>
              <a:rPr lang="en-IN" sz="2400" dirty="0"/>
              <a:t>Hierarchical Clustering Explained</a:t>
            </a:r>
          </a:p>
          <a:p>
            <a:r>
              <a:rPr lang="en-IN" sz="2400" dirty="0"/>
              <a:t>DBSCAN Clustering Explained</a:t>
            </a:r>
          </a:p>
          <a:p>
            <a:r>
              <a:rPr lang="en-US" sz="2400" dirty="0"/>
              <a:t>Analysis and Comparison of Models</a:t>
            </a:r>
          </a:p>
          <a:p>
            <a:r>
              <a:rPr lang="en-IN" sz="2400" dirty="0"/>
              <a:t>Model Development Process</a:t>
            </a:r>
          </a:p>
          <a:p>
            <a:r>
              <a:rPr lang="en-IN" sz="2400" dirty="0"/>
              <a:t>Model Performance &amp; Evaluation</a:t>
            </a:r>
          </a:p>
          <a:p>
            <a:r>
              <a:rPr lang="en-IN" sz="2400" dirty="0"/>
              <a:t>Customer Segments Analysis</a:t>
            </a:r>
          </a:p>
          <a:p>
            <a:r>
              <a:rPr lang="en-IN" sz="2400" dirty="0"/>
              <a:t>Actionable Marketing Strategies</a:t>
            </a:r>
          </a:p>
          <a:p>
            <a:r>
              <a:rPr lang="en-US" sz="2400" dirty="0"/>
              <a:t>Conclusion and Recommendations</a:t>
            </a:r>
            <a:endParaRPr lang="en-IN" sz="2400" dirty="0"/>
          </a:p>
          <a:p>
            <a:endParaRPr lang="en-IN" sz="2400" dirty="0"/>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5A6FA-4FD2-A3FA-87C7-BB92B5F1C48E}"/>
              </a:ext>
            </a:extLst>
          </p:cNvPr>
          <p:cNvSpPr>
            <a:spLocks noGrp="1"/>
          </p:cNvSpPr>
          <p:nvPr>
            <p:ph type="title"/>
          </p:nvPr>
        </p:nvSpPr>
        <p:spPr/>
        <p:txBody>
          <a:bodyPr>
            <a:normAutofit fontScale="90000"/>
          </a:bodyPr>
          <a:lstStyle/>
          <a:p>
            <a:r>
              <a:rPr lang="en-US" dirty="0"/>
              <a:t>Introduction</a:t>
            </a:r>
            <a:br>
              <a:rPr lang="en-US" dirty="0"/>
            </a:br>
            <a:endParaRPr lang="en-IN" dirty="0"/>
          </a:p>
        </p:txBody>
      </p:sp>
      <p:sp>
        <p:nvSpPr>
          <p:cNvPr id="3" name="Content Placeholder 2">
            <a:extLst>
              <a:ext uri="{FF2B5EF4-FFF2-40B4-BE49-F238E27FC236}">
                <a16:creationId xmlns:a16="http://schemas.microsoft.com/office/drawing/2014/main" id="{3F47B122-3B09-3237-790B-EC901D2EC2F1}"/>
              </a:ext>
            </a:extLst>
          </p:cNvPr>
          <p:cNvSpPr>
            <a:spLocks noGrp="1"/>
          </p:cNvSpPr>
          <p:nvPr>
            <p:ph idx="1"/>
          </p:nvPr>
        </p:nvSpPr>
        <p:spPr/>
        <p:txBody>
          <a:bodyPr/>
          <a:lstStyle/>
          <a:p>
            <a:r>
              <a:rPr lang="en-US" b="1" dirty="0"/>
              <a:t>Project Overview</a:t>
            </a:r>
            <a:r>
              <a:rPr lang="en-US" dirty="0"/>
              <a:t>: A brief summary of the business problem, which is to segment e-commerce customers to enable targeted marketing and improve business strategy.</a:t>
            </a:r>
          </a:p>
          <a:p>
            <a:r>
              <a:rPr lang="en-US" b="1" dirty="0"/>
              <a:t>Objective</a:t>
            </a:r>
            <a:r>
              <a:rPr lang="en-US" dirty="0"/>
              <a:t>: Define the specific goals, such as identifying distinct customer groups, understanding their behavior, and comparing the performance of different clustering models.</a:t>
            </a:r>
          </a:p>
          <a:p>
            <a:r>
              <a:rPr lang="en-US" b="1" dirty="0"/>
              <a:t>Customer Segmentation Benefits</a:t>
            </a:r>
            <a:r>
              <a:rPr lang="en-US" dirty="0"/>
              <a:t>: Explain the value proposition, such as more efficient marketing and resource allocation</a:t>
            </a:r>
          </a:p>
          <a:p>
            <a:pPr marL="0" indent="0">
              <a:buNone/>
            </a:pPr>
            <a:endParaRPr lang="en-IN" dirty="0"/>
          </a:p>
        </p:txBody>
      </p:sp>
    </p:spTree>
    <p:extLst>
      <p:ext uri="{BB962C8B-B14F-4D97-AF65-F5344CB8AC3E}">
        <p14:creationId xmlns:p14="http://schemas.microsoft.com/office/powerpoint/2010/main" val="1344420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6241F-1504-BABC-9AF0-AB114EDD0EA2}"/>
              </a:ext>
            </a:extLst>
          </p:cNvPr>
          <p:cNvSpPr>
            <a:spLocks noGrp="1"/>
          </p:cNvSpPr>
          <p:nvPr>
            <p:ph type="title"/>
          </p:nvPr>
        </p:nvSpPr>
        <p:spPr>
          <a:xfrm>
            <a:off x="539733" y="187323"/>
            <a:ext cx="5107239" cy="612775"/>
          </a:xfrm>
        </p:spPr>
        <p:txBody>
          <a:bodyPr>
            <a:normAutofit fontScale="90000"/>
          </a:bodyPr>
          <a:lstStyle/>
          <a:p>
            <a:r>
              <a:rPr lang="en-IN" dirty="0"/>
              <a:t>Project Overview:</a:t>
            </a:r>
            <a:br>
              <a:rPr lang="en-IN" dirty="0"/>
            </a:br>
            <a:endParaRPr lang="en-IN" dirty="0"/>
          </a:p>
        </p:txBody>
      </p:sp>
      <p:sp>
        <p:nvSpPr>
          <p:cNvPr id="3" name="Content Placeholder 2">
            <a:extLst>
              <a:ext uri="{FF2B5EF4-FFF2-40B4-BE49-F238E27FC236}">
                <a16:creationId xmlns:a16="http://schemas.microsoft.com/office/drawing/2014/main" id="{6AB49301-3B19-DAAC-2B7D-C359F5734B2D}"/>
              </a:ext>
            </a:extLst>
          </p:cNvPr>
          <p:cNvSpPr>
            <a:spLocks noGrp="1"/>
          </p:cNvSpPr>
          <p:nvPr>
            <p:ph idx="1"/>
          </p:nvPr>
        </p:nvSpPr>
        <p:spPr>
          <a:xfrm>
            <a:off x="609307" y="800098"/>
            <a:ext cx="5107239" cy="5257804"/>
          </a:xfrm>
        </p:spPr>
        <p:txBody>
          <a:bodyPr>
            <a:normAutofit fontScale="85000" lnSpcReduction="20000"/>
          </a:bodyPr>
          <a:lstStyle/>
          <a:p>
            <a:pPr marL="0" indent="0">
              <a:buNone/>
            </a:pPr>
            <a:r>
              <a:rPr lang="en-US" dirty="0"/>
              <a:t>This project aims to enhance marketing strategies and customer retention for an e-commerce company by gaining a deeper understanding of their customer base based on their purchasing patter. By leveraging machine learning, the project seeks to segment customers and predict future purchasing behavior. The goal is to develop a robust customer segmentation model and a predictive classifier to categorize customers based on their purchasing patterns, enabling the company to tailor marketing strategies, improve customer retention, and optimize inventory management.</a:t>
            </a:r>
          </a:p>
          <a:p>
            <a:pPr marL="0" indent="0">
              <a:buNone/>
            </a:pPr>
            <a:br>
              <a:rPr lang="en-US" dirty="0"/>
            </a:br>
            <a:endParaRPr lang="en-IN" dirty="0"/>
          </a:p>
        </p:txBody>
      </p:sp>
      <p:pic>
        <p:nvPicPr>
          <p:cNvPr id="13" name="Picture 12" descr="A diagram of customer satisfaction">
            <a:extLst>
              <a:ext uri="{FF2B5EF4-FFF2-40B4-BE49-F238E27FC236}">
                <a16:creationId xmlns:a16="http://schemas.microsoft.com/office/drawing/2014/main" id="{D93300EE-2146-ED09-2FB4-20EE8A5A746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096000" y="-1"/>
            <a:ext cx="6096000" cy="6057903"/>
          </a:xfrm>
          <a:prstGeom prst="rect">
            <a:avLst/>
          </a:prstGeom>
        </p:spPr>
      </p:pic>
    </p:spTree>
    <p:extLst>
      <p:ext uri="{BB962C8B-B14F-4D97-AF65-F5344CB8AC3E}">
        <p14:creationId xmlns:p14="http://schemas.microsoft.com/office/powerpoint/2010/main" val="3138749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738E7B-9637-4FA1-5F2B-CB0FFFD732F5}"/>
              </a:ext>
            </a:extLst>
          </p:cNvPr>
          <p:cNvSpPr>
            <a:spLocks noGrp="1"/>
          </p:cNvSpPr>
          <p:nvPr>
            <p:ph type="title"/>
          </p:nvPr>
        </p:nvSpPr>
        <p:spPr>
          <a:xfrm>
            <a:off x="331012" y="891900"/>
            <a:ext cx="5107239" cy="612775"/>
          </a:xfrm>
        </p:spPr>
        <p:txBody>
          <a:bodyPr>
            <a:noAutofit/>
          </a:bodyPr>
          <a:lstStyle/>
          <a:p>
            <a:r>
              <a:rPr lang="en-IN" sz="4800" b="0" dirty="0"/>
              <a:t>Objectives</a:t>
            </a:r>
            <a:br>
              <a:rPr lang="en-IN" sz="4800" b="0" dirty="0"/>
            </a:br>
            <a:endParaRPr lang="en-IN" sz="8000" dirty="0"/>
          </a:p>
        </p:txBody>
      </p:sp>
      <p:pic>
        <p:nvPicPr>
          <p:cNvPr id="7" name="Picture 6" descr="A close-up of a computer screen&#10;&#10;AI-generated content may be incorrect.">
            <a:extLst>
              <a:ext uri="{FF2B5EF4-FFF2-40B4-BE49-F238E27FC236}">
                <a16:creationId xmlns:a16="http://schemas.microsoft.com/office/drawing/2014/main" id="{BA34ECFC-E394-B6CD-582C-EDC7850EC638}"/>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6096000" y="29817"/>
            <a:ext cx="6096000" cy="6028085"/>
          </a:xfrm>
          <a:prstGeom prst="rect">
            <a:avLst/>
          </a:prstGeom>
        </p:spPr>
      </p:pic>
      <p:sp>
        <p:nvSpPr>
          <p:cNvPr id="3" name="Content Placeholder 2">
            <a:extLst>
              <a:ext uri="{FF2B5EF4-FFF2-40B4-BE49-F238E27FC236}">
                <a16:creationId xmlns:a16="http://schemas.microsoft.com/office/drawing/2014/main" id="{D0B2E272-BB84-4C2A-1B8A-D2DB2D47EA4C}"/>
              </a:ext>
            </a:extLst>
          </p:cNvPr>
          <p:cNvSpPr>
            <a:spLocks noGrp="1"/>
          </p:cNvSpPr>
          <p:nvPr>
            <p:ph idx="1"/>
          </p:nvPr>
        </p:nvSpPr>
        <p:spPr>
          <a:xfrm>
            <a:off x="589429" y="1033670"/>
            <a:ext cx="5107239" cy="5024232"/>
          </a:xfrm>
        </p:spPr>
        <p:txBody>
          <a:bodyPr/>
          <a:lstStyle/>
          <a:p>
            <a:pPr marL="0" indent="0">
              <a:buNone/>
            </a:pPr>
            <a:r>
              <a:rPr lang="en-US" dirty="0"/>
              <a:t>Develop a robust customer segmentation model and a predictive classifier to categorize customers based on their purchasing patterns. This will enable the company to tailor marketing strategies, improve customer retention, and optimize inventory management.</a:t>
            </a:r>
            <a:endParaRPr lang="en-IN" dirty="0"/>
          </a:p>
        </p:txBody>
      </p:sp>
    </p:spTree>
    <p:extLst>
      <p:ext uri="{BB962C8B-B14F-4D97-AF65-F5344CB8AC3E}">
        <p14:creationId xmlns:p14="http://schemas.microsoft.com/office/powerpoint/2010/main" val="1564204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F7F83-FC23-0A74-A262-8D230F4ADAB7}"/>
              </a:ext>
            </a:extLst>
          </p:cNvPr>
          <p:cNvSpPr>
            <a:spLocks noGrp="1"/>
          </p:cNvSpPr>
          <p:nvPr>
            <p:ph type="title"/>
          </p:nvPr>
        </p:nvSpPr>
        <p:spPr/>
        <p:txBody>
          <a:bodyPr>
            <a:normAutofit fontScale="90000"/>
          </a:bodyPr>
          <a:lstStyle/>
          <a:p>
            <a:r>
              <a:rPr lang="en-US" dirty="0"/>
              <a:t>Project Benefits:</a:t>
            </a:r>
            <a:br>
              <a:rPr lang="en-US" dirty="0"/>
            </a:br>
            <a:endParaRPr lang="en-IN" dirty="0"/>
          </a:p>
        </p:txBody>
      </p:sp>
      <p:sp>
        <p:nvSpPr>
          <p:cNvPr id="3" name="Content Placeholder 2">
            <a:extLst>
              <a:ext uri="{FF2B5EF4-FFF2-40B4-BE49-F238E27FC236}">
                <a16:creationId xmlns:a16="http://schemas.microsoft.com/office/drawing/2014/main" id="{0FF492CD-6555-968F-0B89-6C0A953B1919}"/>
              </a:ext>
            </a:extLst>
          </p:cNvPr>
          <p:cNvSpPr>
            <a:spLocks noGrp="1"/>
          </p:cNvSpPr>
          <p:nvPr>
            <p:ph idx="1"/>
          </p:nvPr>
        </p:nvSpPr>
        <p:spPr/>
        <p:txBody>
          <a:bodyPr>
            <a:normAutofit fontScale="92500" lnSpcReduction="20000"/>
          </a:bodyPr>
          <a:lstStyle/>
          <a:p>
            <a:r>
              <a:rPr lang="en-US" b="1" dirty="0"/>
              <a:t>Enhanced Customer Segmentation</a:t>
            </a:r>
            <a:r>
              <a:rPr lang="en-US" dirty="0"/>
              <a:t>: Identify and categorize customers based on purchasing behavior, allowing for targeted marketing strategies.</a:t>
            </a:r>
          </a:p>
          <a:p>
            <a:r>
              <a:rPr lang="en-US" b="1" dirty="0"/>
              <a:t>Cost Efficiency</a:t>
            </a:r>
            <a:r>
              <a:rPr lang="en-US" dirty="0"/>
              <a:t>: Focus marketing efforts on high-value customer segments, optimizing resource allocation.</a:t>
            </a:r>
          </a:p>
          <a:p>
            <a:r>
              <a:rPr lang="en-US" b="1" dirty="0"/>
              <a:t>Improved Customer Satisfaction</a:t>
            </a:r>
            <a:r>
              <a:rPr lang="en-US" dirty="0"/>
              <a:t>: Tailor offers and communication to specific customer needs, enhancing overall satisfaction.</a:t>
            </a:r>
          </a:p>
          <a:p>
            <a:pPr marL="0" indent="0">
              <a:buNone/>
            </a:pPr>
            <a:endParaRPr lang="en-US" dirty="0"/>
          </a:p>
          <a:p>
            <a:endParaRPr lang="en-IN" dirty="0"/>
          </a:p>
        </p:txBody>
      </p:sp>
      <p:pic>
        <p:nvPicPr>
          <p:cNvPr id="9" name="Picture 8">
            <a:extLst>
              <a:ext uri="{FF2B5EF4-FFF2-40B4-BE49-F238E27FC236}">
                <a16:creationId xmlns:a16="http://schemas.microsoft.com/office/drawing/2014/main" id="{40E88479-DB33-A690-FA8D-FA93D1F8862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096001" y="0"/>
            <a:ext cx="6096000" cy="5975192"/>
          </a:xfrm>
          <a:prstGeom prst="rect">
            <a:avLst/>
          </a:prstGeom>
        </p:spPr>
      </p:pic>
    </p:spTree>
    <p:extLst>
      <p:ext uri="{BB962C8B-B14F-4D97-AF65-F5344CB8AC3E}">
        <p14:creationId xmlns:p14="http://schemas.microsoft.com/office/powerpoint/2010/main" val="740750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97A08-3544-E3DB-ED1C-4ED97EDE1602}"/>
              </a:ext>
            </a:extLst>
          </p:cNvPr>
          <p:cNvSpPr>
            <a:spLocks noGrp="1"/>
          </p:cNvSpPr>
          <p:nvPr>
            <p:ph type="title"/>
          </p:nvPr>
        </p:nvSpPr>
        <p:spPr/>
        <p:txBody>
          <a:bodyPr/>
          <a:lstStyle/>
          <a:p>
            <a:r>
              <a:rPr lang="en-IN" dirty="0"/>
              <a:t>Necessary libraries import</a:t>
            </a:r>
          </a:p>
        </p:txBody>
      </p:sp>
      <p:pic>
        <p:nvPicPr>
          <p:cNvPr id="5" name="Content Placeholder 4" descr="A screen shot of a computer program&#10;&#10;AI-generated content may be incorrect.">
            <a:extLst>
              <a:ext uri="{FF2B5EF4-FFF2-40B4-BE49-F238E27FC236}">
                <a16:creationId xmlns:a16="http://schemas.microsoft.com/office/drawing/2014/main" id="{336C07E8-0A82-055B-B994-5F4DF589E7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8883" y="1818861"/>
            <a:ext cx="10834233" cy="4193363"/>
          </a:xfrm>
        </p:spPr>
      </p:pic>
    </p:spTree>
    <p:extLst>
      <p:ext uri="{BB962C8B-B14F-4D97-AF65-F5344CB8AC3E}">
        <p14:creationId xmlns:p14="http://schemas.microsoft.com/office/powerpoint/2010/main" val="2533259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92F1A-01C5-FB27-A876-2F8BD121F3C9}"/>
              </a:ext>
            </a:extLst>
          </p:cNvPr>
          <p:cNvSpPr>
            <a:spLocks noGrp="1"/>
          </p:cNvSpPr>
          <p:nvPr>
            <p:ph type="title"/>
          </p:nvPr>
        </p:nvSpPr>
        <p:spPr/>
        <p:txBody>
          <a:bodyPr>
            <a:normAutofit fontScale="90000"/>
          </a:bodyPr>
          <a:lstStyle/>
          <a:p>
            <a:r>
              <a:rPr lang="en-US" dirty="0"/>
              <a:t> Data Collection and Preprocessing</a:t>
            </a:r>
            <a:br>
              <a:rPr lang="en-US" dirty="0"/>
            </a:br>
            <a:endParaRPr lang="en-IN" dirty="0"/>
          </a:p>
        </p:txBody>
      </p:sp>
      <p:sp>
        <p:nvSpPr>
          <p:cNvPr id="3" name="Content Placeholder 2">
            <a:extLst>
              <a:ext uri="{FF2B5EF4-FFF2-40B4-BE49-F238E27FC236}">
                <a16:creationId xmlns:a16="http://schemas.microsoft.com/office/drawing/2014/main" id="{AAF92A74-4FBF-0432-35C1-6FEFC890A677}"/>
              </a:ext>
            </a:extLst>
          </p:cNvPr>
          <p:cNvSpPr>
            <a:spLocks noGrp="1"/>
          </p:cNvSpPr>
          <p:nvPr>
            <p:ph idx="1"/>
          </p:nvPr>
        </p:nvSpPr>
        <p:spPr>
          <a:xfrm>
            <a:off x="678883" y="1058848"/>
            <a:ext cx="10834234" cy="2131612"/>
          </a:xfrm>
        </p:spPr>
        <p:txBody>
          <a:bodyPr>
            <a:normAutofit lnSpcReduction="10000"/>
          </a:bodyPr>
          <a:lstStyle/>
          <a:p>
            <a:r>
              <a:rPr lang="en-US" b="1" dirty="0"/>
              <a:t>Data Source</a:t>
            </a:r>
            <a:r>
              <a:rPr lang="en-US" dirty="0"/>
              <a:t>: Identify the dataset used, such as online retail or e-commerce transaction data, including key features like </a:t>
            </a:r>
            <a:r>
              <a:rPr lang="en-US" dirty="0" err="1"/>
              <a:t>InvoiceNo</a:t>
            </a:r>
            <a:r>
              <a:rPr lang="en-US" dirty="0"/>
              <a:t>, CustomerID, </a:t>
            </a:r>
            <a:r>
              <a:rPr lang="en-US" dirty="0" err="1"/>
              <a:t>UnitPrice</a:t>
            </a:r>
            <a:r>
              <a:rPr lang="en-US" dirty="0"/>
              <a:t>, and Quantity.</a:t>
            </a:r>
          </a:p>
          <a:p>
            <a:r>
              <a:rPr lang="en-US" b="1" dirty="0"/>
              <a:t>Data Loading</a:t>
            </a:r>
            <a:r>
              <a:rPr lang="en-US" dirty="0"/>
              <a:t>: The process of importing the dataset into the analysis environment.</a:t>
            </a:r>
          </a:p>
          <a:p>
            <a:pPr marL="0" indent="0">
              <a:buNone/>
            </a:pPr>
            <a:endParaRPr lang="en-IN" dirty="0"/>
          </a:p>
        </p:txBody>
      </p:sp>
      <p:pic>
        <p:nvPicPr>
          <p:cNvPr id="5" name="Picture 4" descr="A screenshot of a computer&#10;&#10;AI-generated content may be incorrect.">
            <a:extLst>
              <a:ext uri="{FF2B5EF4-FFF2-40B4-BE49-F238E27FC236}">
                <a16:creationId xmlns:a16="http://schemas.microsoft.com/office/drawing/2014/main" id="{9E38D1B2-CAE1-5F10-13C7-34503D11DB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51313"/>
            <a:ext cx="12192000" cy="2972100"/>
          </a:xfrm>
          <a:prstGeom prst="rect">
            <a:avLst/>
          </a:prstGeom>
        </p:spPr>
      </p:pic>
    </p:spTree>
    <p:extLst>
      <p:ext uri="{BB962C8B-B14F-4D97-AF65-F5344CB8AC3E}">
        <p14:creationId xmlns:p14="http://schemas.microsoft.com/office/powerpoint/2010/main" val="259592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6D35F6-163F-F26B-15A1-B18E11AD29CA}"/>
              </a:ext>
            </a:extLst>
          </p:cNvPr>
          <p:cNvSpPr>
            <a:spLocks noGrp="1"/>
          </p:cNvSpPr>
          <p:nvPr>
            <p:ph idx="1"/>
          </p:nvPr>
        </p:nvSpPr>
        <p:spPr>
          <a:xfrm>
            <a:off x="539737" y="542014"/>
            <a:ext cx="10834234" cy="1584960"/>
          </a:xfrm>
        </p:spPr>
        <p:txBody>
          <a:bodyPr/>
          <a:lstStyle/>
          <a:p>
            <a:pPr marL="0" indent="0">
              <a:buNone/>
            </a:pPr>
            <a:r>
              <a:rPr lang="en-US" b="1" dirty="0"/>
              <a:t>Exploratory Data Analysis (EDA)</a:t>
            </a:r>
            <a:r>
              <a:rPr lang="en-US" dirty="0"/>
              <a:t>: Initial analysis to understand the data's structure, identify missing values, and explore the distribution of key features.</a:t>
            </a:r>
          </a:p>
          <a:p>
            <a:endParaRPr lang="en-IN" dirty="0"/>
          </a:p>
        </p:txBody>
      </p:sp>
      <p:pic>
        <p:nvPicPr>
          <p:cNvPr id="7" name="Picture 6" descr="A screenshot of a data&#10;&#10;AI-generated content may be incorrect.">
            <a:extLst>
              <a:ext uri="{FF2B5EF4-FFF2-40B4-BE49-F238E27FC236}">
                <a16:creationId xmlns:a16="http://schemas.microsoft.com/office/drawing/2014/main" id="{0CD326D0-D0BA-DA46-0371-6F4CBDEA89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02" y="1719471"/>
            <a:ext cx="4559169" cy="3011556"/>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2EB0B933-3C40-CD38-E0F0-20F5811993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5881" y="1719471"/>
            <a:ext cx="4559169" cy="3011556"/>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91E6149C-C96D-C9E1-5513-60CA9EF16F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83244" y="1599800"/>
            <a:ext cx="3176676" cy="3131227"/>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BF1F4B66-E8B5-16B0-AAFE-44CB2B3C47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102" y="4731027"/>
            <a:ext cx="4153480" cy="1867161"/>
          </a:xfrm>
          <a:prstGeom prst="rect">
            <a:avLst/>
          </a:prstGeom>
        </p:spPr>
      </p:pic>
    </p:spTree>
    <p:extLst>
      <p:ext uri="{BB962C8B-B14F-4D97-AF65-F5344CB8AC3E}">
        <p14:creationId xmlns:p14="http://schemas.microsoft.com/office/powerpoint/2010/main" val="3467043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FFF5D-FECC-ED4A-A207-A95D54D288AC}"/>
              </a:ext>
            </a:extLst>
          </p:cNvPr>
          <p:cNvSpPr>
            <a:spLocks noGrp="1"/>
          </p:cNvSpPr>
          <p:nvPr>
            <p:ph type="title"/>
          </p:nvPr>
        </p:nvSpPr>
        <p:spPr>
          <a:xfrm>
            <a:off x="678884" y="218661"/>
            <a:ext cx="10834234" cy="2047461"/>
          </a:xfrm>
        </p:spPr>
        <p:txBody>
          <a:bodyPr>
            <a:normAutofit/>
          </a:bodyPr>
          <a:lstStyle/>
          <a:p>
            <a:r>
              <a:rPr lang="en-US" dirty="0"/>
              <a:t>Data Cleaning and Transformation:</a:t>
            </a:r>
            <a:br>
              <a:rPr lang="en-US" b="0" dirty="0"/>
            </a:br>
            <a:r>
              <a:rPr lang="en-US" sz="2700" b="0" dirty="0"/>
              <a:t>Handling missing data, particularly missing customer IDs.</a:t>
            </a:r>
            <a:br>
              <a:rPr lang="en-US" sz="2700" b="0" dirty="0"/>
            </a:br>
            <a:r>
              <a:rPr lang="en-US" sz="2700" b="0" dirty="0"/>
              <a:t>Normalizing or scaling numerical features to ensure all models perform optimally. </a:t>
            </a:r>
            <a:br>
              <a:rPr lang="en-US" b="0" dirty="0"/>
            </a:br>
            <a:endParaRPr lang="en-IN" b="0" dirty="0"/>
          </a:p>
        </p:txBody>
      </p:sp>
      <p:pic>
        <p:nvPicPr>
          <p:cNvPr id="5" name="Content Placeholder 4">
            <a:extLst>
              <a:ext uri="{FF2B5EF4-FFF2-40B4-BE49-F238E27FC236}">
                <a16:creationId xmlns:a16="http://schemas.microsoft.com/office/drawing/2014/main" id="{3E09BEA8-90AD-4848-E313-050177F25B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6834" y="2136914"/>
            <a:ext cx="11310731" cy="3936862"/>
          </a:xfrm>
        </p:spPr>
      </p:pic>
    </p:spTree>
    <p:extLst>
      <p:ext uri="{BB962C8B-B14F-4D97-AF65-F5344CB8AC3E}">
        <p14:creationId xmlns:p14="http://schemas.microsoft.com/office/powerpoint/2010/main" val="4046301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93878B-C863-F3EF-1B52-CFE0D5A69262}"/>
              </a:ext>
            </a:extLst>
          </p:cNvPr>
          <p:cNvSpPr>
            <a:spLocks noGrp="1"/>
          </p:cNvSpPr>
          <p:nvPr>
            <p:ph idx="1"/>
          </p:nvPr>
        </p:nvSpPr>
        <p:spPr>
          <a:xfrm>
            <a:off x="509919" y="253779"/>
            <a:ext cx="10834234" cy="1415995"/>
          </a:xfrm>
        </p:spPr>
        <p:txBody>
          <a:bodyPr/>
          <a:lstStyle/>
          <a:p>
            <a:pPr marL="0" indent="0">
              <a:buNone/>
            </a:pPr>
            <a:r>
              <a:rPr lang="en-US" b="1" dirty="0"/>
              <a:t>Feature Engineering</a:t>
            </a:r>
            <a:r>
              <a:rPr lang="en-US" dirty="0"/>
              <a:t>: Creation of new, more informative features from existing data, such as Recency, Frequency, and Monetary (RFM) value.</a:t>
            </a:r>
          </a:p>
          <a:p>
            <a:pPr marL="0" indent="0">
              <a:buNone/>
            </a:pPr>
            <a:endParaRPr lang="en-IN" dirty="0"/>
          </a:p>
        </p:txBody>
      </p:sp>
      <p:pic>
        <p:nvPicPr>
          <p:cNvPr id="5" name="Picture 4" descr="A screenshot of a computer program&#10;&#10;AI-generated content may be incorrect.">
            <a:extLst>
              <a:ext uri="{FF2B5EF4-FFF2-40B4-BE49-F238E27FC236}">
                <a16:creationId xmlns:a16="http://schemas.microsoft.com/office/drawing/2014/main" id="{41491E0E-018E-263A-6FD5-ED4CE3E329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867" y="2206487"/>
            <a:ext cx="9916909" cy="4023253"/>
          </a:xfrm>
          <a:prstGeom prst="rect">
            <a:avLst/>
          </a:prstGeom>
        </p:spPr>
      </p:pic>
    </p:spTree>
    <p:extLst>
      <p:ext uri="{BB962C8B-B14F-4D97-AF65-F5344CB8AC3E}">
        <p14:creationId xmlns:p14="http://schemas.microsoft.com/office/powerpoint/2010/main" val="2726191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011AD-2917-B070-0AFB-C68661C49617}"/>
              </a:ext>
            </a:extLst>
          </p:cNvPr>
          <p:cNvSpPr>
            <a:spLocks noGrp="1"/>
          </p:cNvSpPr>
          <p:nvPr>
            <p:ph type="title"/>
          </p:nvPr>
        </p:nvSpPr>
        <p:spPr>
          <a:xfrm>
            <a:off x="529797" y="301293"/>
            <a:ext cx="10834234" cy="612775"/>
          </a:xfrm>
        </p:spPr>
        <p:txBody>
          <a:bodyPr>
            <a:normAutofit fontScale="90000"/>
          </a:bodyPr>
          <a:lstStyle/>
          <a:p>
            <a:r>
              <a:rPr lang="en-US" sz="3600" dirty="0"/>
              <a:t>Recency, Frequency, and Monetary (RFM)</a:t>
            </a:r>
            <a:r>
              <a:rPr lang="en-IN" sz="3600" dirty="0"/>
              <a:t> Analysis: Theory and Process:</a:t>
            </a:r>
            <a:br>
              <a:rPr lang="en-IN" sz="3600" dirty="0"/>
            </a:br>
            <a:endParaRPr lang="en-IN" dirty="0"/>
          </a:p>
        </p:txBody>
      </p:sp>
      <p:sp>
        <p:nvSpPr>
          <p:cNvPr id="3" name="Content Placeholder 2">
            <a:extLst>
              <a:ext uri="{FF2B5EF4-FFF2-40B4-BE49-F238E27FC236}">
                <a16:creationId xmlns:a16="http://schemas.microsoft.com/office/drawing/2014/main" id="{A83A50EA-77D1-A54B-104D-446F9A3E2A10}"/>
              </a:ext>
            </a:extLst>
          </p:cNvPr>
          <p:cNvSpPr>
            <a:spLocks noGrp="1"/>
          </p:cNvSpPr>
          <p:nvPr>
            <p:ph idx="1"/>
          </p:nvPr>
        </p:nvSpPr>
        <p:spPr>
          <a:xfrm>
            <a:off x="678883" y="1033671"/>
            <a:ext cx="10834234" cy="5128590"/>
          </a:xfrm>
        </p:spPr>
        <p:txBody>
          <a:bodyPr>
            <a:normAutofit fontScale="85000" lnSpcReduction="10000"/>
          </a:bodyPr>
          <a:lstStyle/>
          <a:p>
            <a:pPr lvl="0"/>
            <a:r>
              <a:rPr lang="en-IN" dirty="0" err="1"/>
              <a:t>Ecommerce_dataset.groupby</a:t>
            </a:r>
            <a:r>
              <a:rPr lang="en-IN" dirty="0"/>
              <a:t>('CustomerID').</a:t>
            </a:r>
            <a:r>
              <a:rPr lang="en-IN" dirty="0" err="1"/>
              <a:t>agg</a:t>
            </a:r>
            <a:r>
              <a:rPr lang="en-IN" dirty="0"/>
              <a:t>(...): This groups the dataset by unique CustomerID and then applies aggregation functions to calculate the RFM values for each customer.</a:t>
            </a:r>
          </a:p>
          <a:p>
            <a:pPr lvl="0"/>
            <a:r>
              <a:rPr lang="en-IN" dirty="0"/>
              <a:t>Recency=('</a:t>
            </a:r>
            <a:r>
              <a:rPr lang="en-IN" dirty="0" err="1"/>
              <a:t>InvoiceDate</a:t>
            </a:r>
            <a:r>
              <a:rPr lang="en-IN" dirty="0"/>
              <a:t>', lambda date: (</a:t>
            </a:r>
            <a:r>
              <a:rPr lang="en-IN" dirty="0" err="1"/>
              <a:t>most_recent_date</a:t>
            </a:r>
            <a:r>
              <a:rPr lang="en-IN" dirty="0"/>
              <a:t> - </a:t>
            </a:r>
            <a:r>
              <a:rPr lang="en-IN" dirty="0" err="1"/>
              <a:t>date.max</a:t>
            </a:r>
            <a:r>
              <a:rPr lang="en-IN" dirty="0"/>
              <a:t>()).days): This calculates the Recency. For each customer, it finds the maximum </a:t>
            </a:r>
            <a:r>
              <a:rPr lang="en-IN" dirty="0" err="1"/>
              <a:t>InvoiceDate</a:t>
            </a:r>
            <a:r>
              <a:rPr lang="en-IN" dirty="0"/>
              <a:t> (their most recent purchase) and subtracts it from the </a:t>
            </a:r>
            <a:r>
              <a:rPr lang="en-IN" dirty="0" err="1"/>
              <a:t>most_recent_date</a:t>
            </a:r>
            <a:r>
              <a:rPr lang="en-IN" dirty="0"/>
              <a:t> (the latest date in the entire dataset). The .days extracts the difference in days.</a:t>
            </a:r>
          </a:p>
          <a:p>
            <a:pPr lvl="0"/>
            <a:r>
              <a:rPr lang="en-IN" dirty="0"/>
              <a:t>Frequency=('</a:t>
            </a:r>
            <a:r>
              <a:rPr lang="en-IN" dirty="0" err="1"/>
              <a:t>InvoiceNo</a:t>
            </a:r>
            <a:r>
              <a:rPr lang="en-IN" dirty="0"/>
              <a:t>', '</a:t>
            </a:r>
            <a:r>
              <a:rPr lang="en-IN" dirty="0" err="1"/>
              <a:t>nunique</a:t>
            </a:r>
            <a:r>
              <a:rPr lang="en-IN" dirty="0"/>
              <a:t>'): This calculates the Frequency. For each customer, it counts the number of unique </a:t>
            </a:r>
            <a:r>
              <a:rPr lang="en-IN" dirty="0" err="1"/>
              <a:t>InvoiceNo</a:t>
            </a:r>
            <a:r>
              <a:rPr lang="en-IN" dirty="0"/>
              <a:t> values, which represents the number of distinct orders they have placed.</a:t>
            </a:r>
          </a:p>
          <a:p>
            <a:pPr lvl="0"/>
            <a:r>
              <a:rPr lang="en-IN" dirty="0"/>
              <a:t>Monetary=('Monetary', 'sum'): This calculates the Monetary value. For each customer, it sums the values in the 'Monetary' column (which you calculated earlier as Quantity * </a:t>
            </a:r>
            <a:r>
              <a:rPr lang="en-IN" dirty="0" err="1"/>
              <a:t>UnitPrice</a:t>
            </a:r>
            <a:r>
              <a:rPr lang="en-IN" dirty="0"/>
              <a:t>) to get the total amount spent by each customer.</a:t>
            </a:r>
          </a:p>
          <a:p>
            <a:r>
              <a:rPr lang="en-IN" dirty="0"/>
              <a:t>The results of these aggregations are stored in a new </a:t>
            </a:r>
            <a:r>
              <a:rPr lang="en-IN" dirty="0" err="1"/>
              <a:t>DataFrame</a:t>
            </a:r>
            <a:r>
              <a:rPr lang="en-IN" dirty="0"/>
              <a:t> called </a:t>
            </a:r>
            <a:r>
              <a:rPr lang="en-IN" dirty="0" err="1"/>
              <a:t>rfm_df</a:t>
            </a:r>
            <a:r>
              <a:rPr lang="en-IN" dirty="0"/>
              <a:t>, with 'CustomerID' as the index and 'Recency', 'Frequency', and 'Monetary' as columns.</a:t>
            </a:r>
          </a:p>
          <a:p>
            <a:endParaRPr lang="en-IN" dirty="0"/>
          </a:p>
        </p:txBody>
      </p:sp>
    </p:spTree>
    <p:extLst>
      <p:ext uri="{BB962C8B-B14F-4D97-AF65-F5344CB8AC3E}">
        <p14:creationId xmlns:p14="http://schemas.microsoft.com/office/powerpoint/2010/main" val="3613568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3A464-B85E-EE72-BE9A-BCA698CD5313}"/>
              </a:ext>
            </a:extLst>
          </p:cNvPr>
          <p:cNvSpPr>
            <a:spLocks noGrp="1"/>
          </p:cNvSpPr>
          <p:nvPr>
            <p:ph type="title"/>
          </p:nvPr>
        </p:nvSpPr>
        <p:spPr>
          <a:xfrm>
            <a:off x="281803" y="440774"/>
            <a:ext cx="11628393" cy="612775"/>
          </a:xfrm>
        </p:spPr>
        <p:txBody>
          <a:bodyPr>
            <a:normAutofit fontScale="90000"/>
          </a:bodyPr>
          <a:lstStyle/>
          <a:p>
            <a:r>
              <a:rPr lang="en-US" sz="3600" dirty="0"/>
              <a:t>Recency, Frequency, and Monetary (RFM)</a:t>
            </a:r>
            <a:r>
              <a:rPr lang="en-IN" sz="3600" dirty="0"/>
              <a:t> Analysis: Results/Visualization</a:t>
            </a:r>
            <a:br>
              <a:rPr lang="en-IN" sz="3600" dirty="0"/>
            </a:br>
            <a:endParaRPr lang="en-IN" dirty="0"/>
          </a:p>
        </p:txBody>
      </p:sp>
      <p:pic>
        <p:nvPicPr>
          <p:cNvPr id="5" name="Picture 4">
            <a:extLst>
              <a:ext uri="{FF2B5EF4-FFF2-40B4-BE49-F238E27FC236}">
                <a16:creationId xmlns:a16="http://schemas.microsoft.com/office/drawing/2014/main" id="{71736A76-5331-EFE6-B8F1-0F3BCDE6A3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571" y="1053549"/>
            <a:ext cx="11164858" cy="5190482"/>
          </a:xfrm>
          <a:prstGeom prst="rect">
            <a:avLst/>
          </a:prstGeom>
        </p:spPr>
      </p:pic>
    </p:spTree>
    <p:extLst>
      <p:ext uri="{BB962C8B-B14F-4D97-AF65-F5344CB8AC3E}">
        <p14:creationId xmlns:p14="http://schemas.microsoft.com/office/powerpoint/2010/main" val="3761065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E6CC14-0E48-7D46-A58A-B3227A018D7B}"/>
              </a:ext>
            </a:extLst>
          </p:cNvPr>
          <p:cNvSpPr>
            <a:spLocks noGrp="1"/>
          </p:cNvSpPr>
          <p:nvPr>
            <p:ph type="title"/>
          </p:nvPr>
        </p:nvSpPr>
        <p:spPr>
          <a:xfrm>
            <a:off x="410527" y="94960"/>
            <a:ext cx="10834234" cy="612775"/>
          </a:xfrm>
        </p:spPr>
        <p:txBody>
          <a:bodyPr/>
          <a:lstStyle/>
          <a:p>
            <a:r>
              <a:rPr lang="en-IN" dirty="0"/>
              <a:t>Data scaling</a:t>
            </a:r>
          </a:p>
        </p:txBody>
      </p:sp>
      <p:sp>
        <p:nvSpPr>
          <p:cNvPr id="3" name="Content Placeholder 2">
            <a:extLst>
              <a:ext uri="{FF2B5EF4-FFF2-40B4-BE49-F238E27FC236}">
                <a16:creationId xmlns:a16="http://schemas.microsoft.com/office/drawing/2014/main" id="{13EACC09-5EEA-F884-96B9-EBAB5D5B1093}"/>
              </a:ext>
            </a:extLst>
          </p:cNvPr>
          <p:cNvSpPr>
            <a:spLocks noGrp="1"/>
          </p:cNvSpPr>
          <p:nvPr>
            <p:ph idx="1"/>
          </p:nvPr>
        </p:nvSpPr>
        <p:spPr>
          <a:xfrm>
            <a:off x="877667" y="889884"/>
            <a:ext cx="10834234" cy="859403"/>
          </a:xfrm>
        </p:spPr>
        <p:txBody>
          <a:bodyPr>
            <a:normAutofit lnSpcReduction="10000"/>
          </a:bodyPr>
          <a:lstStyle/>
          <a:p>
            <a:r>
              <a:rPr lang="en-IN" b="1" dirty="0"/>
              <a:t>Data Scaling:</a:t>
            </a:r>
            <a:r>
              <a:rPr lang="en-IN" dirty="0"/>
              <a:t> The RFM features were scaled using </a:t>
            </a:r>
            <a:r>
              <a:rPr lang="en-IN" dirty="0" err="1"/>
              <a:t>MinMaxScaler</a:t>
            </a:r>
            <a:r>
              <a:rPr lang="en-IN" dirty="0"/>
              <a:t> to prepare them for clustering algorithms.</a:t>
            </a:r>
          </a:p>
          <a:p>
            <a:endParaRPr lang="en-IN" dirty="0"/>
          </a:p>
        </p:txBody>
      </p:sp>
      <p:pic>
        <p:nvPicPr>
          <p:cNvPr id="5" name="Picture 4" descr="A screenshot of a computer&#10;&#10;AI-generated content may be incorrect.">
            <a:extLst>
              <a:ext uri="{FF2B5EF4-FFF2-40B4-BE49-F238E27FC236}">
                <a16:creationId xmlns:a16="http://schemas.microsoft.com/office/drawing/2014/main" id="{F49807D9-1F4F-9C6B-C87C-3D96918BF0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202" y="3280134"/>
            <a:ext cx="11069595" cy="2762636"/>
          </a:xfrm>
          <a:prstGeom prst="rect">
            <a:avLst/>
          </a:prstGeom>
        </p:spPr>
      </p:pic>
      <p:pic>
        <p:nvPicPr>
          <p:cNvPr id="7" name="Picture 6" descr="A diagram of a scatter plot&#10;&#10;AI-generated content may be incorrect.">
            <a:extLst>
              <a:ext uri="{FF2B5EF4-FFF2-40B4-BE49-F238E27FC236}">
                <a16:creationId xmlns:a16="http://schemas.microsoft.com/office/drawing/2014/main" id="{141ACFF5-4323-7866-AA29-8B2966B685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4399" y="1659835"/>
            <a:ext cx="5852160" cy="3528391"/>
          </a:xfrm>
          <a:prstGeom prst="rect">
            <a:avLst/>
          </a:prstGeom>
        </p:spPr>
      </p:pic>
    </p:spTree>
    <p:extLst>
      <p:ext uri="{BB962C8B-B14F-4D97-AF65-F5344CB8AC3E}">
        <p14:creationId xmlns:p14="http://schemas.microsoft.com/office/powerpoint/2010/main" val="1705545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C1597-39CC-D97F-73B3-3ECAC00F4D67}"/>
              </a:ext>
            </a:extLst>
          </p:cNvPr>
          <p:cNvSpPr>
            <a:spLocks noGrp="1"/>
          </p:cNvSpPr>
          <p:nvPr>
            <p:ph type="title"/>
          </p:nvPr>
        </p:nvSpPr>
        <p:spPr>
          <a:xfrm>
            <a:off x="331014" y="623544"/>
            <a:ext cx="10834234" cy="612775"/>
          </a:xfrm>
        </p:spPr>
        <p:txBody>
          <a:bodyPr/>
          <a:lstStyle/>
          <a:p>
            <a:r>
              <a:rPr lang="en-IN" sz="3600" dirty="0"/>
              <a:t>Clustering Algorithms: Introduction</a:t>
            </a:r>
          </a:p>
        </p:txBody>
      </p:sp>
      <p:sp>
        <p:nvSpPr>
          <p:cNvPr id="3" name="Content Placeholder 2">
            <a:extLst>
              <a:ext uri="{FF2B5EF4-FFF2-40B4-BE49-F238E27FC236}">
                <a16:creationId xmlns:a16="http://schemas.microsoft.com/office/drawing/2014/main" id="{AF8C101E-EE52-E864-18E5-523C0C0BFE4F}"/>
              </a:ext>
            </a:extLst>
          </p:cNvPr>
          <p:cNvSpPr>
            <a:spLocks noGrp="1"/>
          </p:cNvSpPr>
          <p:nvPr>
            <p:ph idx="1"/>
          </p:nvPr>
        </p:nvSpPr>
        <p:spPr>
          <a:xfrm>
            <a:off x="410527" y="2037522"/>
            <a:ext cx="10834234" cy="3160642"/>
          </a:xfrm>
        </p:spPr>
        <p:txBody>
          <a:bodyPr>
            <a:noAutofit/>
          </a:bodyPr>
          <a:lstStyle/>
          <a:p>
            <a:pPr marL="0" indent="0">
              <a:buNone/>
            </a:pPr>
            <a:r>
              <a:rPr lang="en-US" sz="2400" b="1" dirty="0"/>
              <a:t> Clustering</a:t>
            </a:r>
            <a:r>
              <a:rPr lang="en-US" sz="2400" dirty="0"/>
              <a:t> is the process of organizing data into groups (clusters) where objects within each group are more similar to one another than to those in other groups. For example, if we have a dataset of animals, clustering can help us group them based on features like size, habitat, and diet. The idea is to find a structure within the data that allows for meaningful insights.</a:t>
            </a:r>
            <a:endParaRPr lang="en-IN" sz="2400" dirty="0"/>
          </a:p>
          <a:p>
            <a:r>
              <a:rPr lang="en-IN" sz="2400" dirty="0"/>
              <a:t>K-Means Clustering</a:t>
            </a:r>
          </a:p>
          <a:p>
            <a:r>
              <a:rPr lang="en-US" sz="2400" dirty="0"/>
              <a:t>Hierarchical Clustering (Agglomerative)</a:t>
            </a:r>
          </a:p>
          <a:p>
            <a:r>
              <a:rPr lang="en-IN" sz="2400" dirty="0"/>
              <a:t>DBSCAN Clustering</a:t>
            </a:r>
            <a:br>
              <a:rPr lang="en-IN" sz="2400" dirty="0"/>
            </a:br>
            <a:br>
              <a:rPr lang="en-US" sz="2400" dirty="0"/>
            </a:br>
            <a:endParaRPr lang="en-IN" sz="2400" dirty="0"/>
          </a:p>
        </p:txBody>
      </p:sp>
    </p:spTree>
    <p:extLst>
      <p:ext uri="{BB962C8B-B14F-4D97-AF65-F5344CB8AC3E}">
        <p14:creationId xmlns:p14="http://schemas.microsoft.com/office/powerpoint/2010/main" val="2305603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D1DCF-F88E-5570-E7B0-731E501B1E8F}"/>
              </a:ext>
            </a:extLst>
          </p:cNvPr>
          <p:cNvSpPr>
            <a:spLocks noGrp="1"/>
          </p:cNvSpPr>
          <p:nvPr>
            <p:ph type="title"/>
          </p:nvPr>
        </p:nvSpPr>
        <p:spPr/>
        <p:txBody>
          <a:bodyPr/>
          <a:lstStyle/>
          <a:p>
            <a:r>
              <a:rPr lang="en-IN" sz="3600" dirty="0"/>
              <a:t>K-Means Clustering Explained</a:t>
            </a:r>
          </a:p>
        </p:txBody>
      </p:sp>
      <p:sp>
        <p:nvSpPr>
          <p:cNvPr id="3" name="Content Placeholder 2">
            <a:extLst>
              <a:ext uri="{FF2B5EF4-FFF2-40B4-BE49-F238E27FC236}">
                <a16:creationId xmlns:a16="http://schemas.microsoft.com/office/drawing/2014/main" id="{02DD3AB6-8F72-6833-DE7E-42FDF6877688}"/>
              </a:ext>
            </a:extLst>
          </p:cNvPr>
          <p:cNvSpPr>
            <a:spLocks noGrp="1"/>
          </p:cNvSpPr>
          <p:nvPr>
            <p:ph idx="1"/>
          </p:nvPr>
        </p:nvSpPr>
        <p:spPr>
          <a:xfrm>
            <a:off x="678884" y="1560443"/>
            <a:ext cx="10834234" cy="4512698"/>
          </a:xfrm>
        </p:spPr>
        <p:txBody>
          <a:bodyPr/>
          <a:lstStyle/>
          <a:p>
            <a:r>
              <a:rPr lang="en-US" dirty="0"/>
              <a:t>Methodology: Explain how K-Means works, which is to partition data into K clusters based on the nearest mean.</a:t>
            </a:r>
          </a:p>
          <a:p>
            <a:r>
              <a:rPr lang="en-US" dirty="0"/>
              <a:t>Determining the Optimal K: Describe the use of the Elbow Method to find the most suitable number of clusters.</a:t>
            </a:r>
          </a:p>
          <a:p>
            <a:r>
              <a:rPr lang="en-US" dirty="0"/>
              <a:t>Implementation: Steps for applying the K-Means algorithm and fitting the model to the preprocessed data.</a:t>
            </a:r>
          </a:p>
          <a:p>
            <a:r>
              <a:rPr lang="en-US" dirty="0"/>
              <a:t>Resulting Clusters: Present the defined customer segments based on the K-Means output.</a:t>
            </a:r>
            <a:endParaRPr lang="en-IN" dirty="0"/>
          </a:p>
        </p:txBody>
      </p:sp>
    </p:spTree>
    <p:extLst>
      <p:ext uri="{BB962C8B-B14F-4D97-AF65-F5344CB8AC3E}">
        <p14:creationId xmlns:p14="http://schemas.microsoft.com/office/powerpoint/2010/main" val="21457741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1A8E9D3-E9AC-D0F7-7670-8D7A87860296}"/>
              </a:ext>
            </a:extLst>
          </p:cNvPr>
          <p:cNvSpPr>
            <a:spLocks noGrp="1"/>
          </p:cNvSpPr>
          <p:nvPr>
            <p:ph type="body" idx="1"/>
          </p:nvPr>
        </p:nvSpPr>
        <p:spPr>
          <a:xfrm>
            <a:off x="340950" y="238538"/>
            <a:ext cx="5318693" cy="655349"/>
          </a:xfrm>
        </p:spPr>
        <p:txBody>
          <a:bodyPr/>
          <a:lstStyle/>
          <a:p>
            <a:r>
              <a:rPr lang="en-IN" dirty="0"/>
              <a:t>K-means  Cluster Visualize:</a:t>
            </a:r>
          </a:p>
        </p:txBody>
      </p:sp>
      <p:pic>
        <p:nvPicPr>
          <p:cNvPr id="12" name="Content Placeholder 11" descr="A graph with a line&#10;&#10;AI-generated content may be incorrect.">
            <a:extLst>
              <a:ext uri="{FF2B5EF4-FFF2-40B4-BE49-F238E27FC236}">
                <a16:creationId xmlns:a16="http://schemas.microsoft.com/office/drawing/2014/main" id="{04DA72A1-C83E-2F29-D724-E93D2155EB7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97513" y="3011557"/>
            <a:ext cx="5318125" cy="3038928"/>
          </a:xfrm>
        </p:spPr>
      </p:pic>
      <p:pic>
        <p:nvPicPr>
          <p:cNvPr id="14" name="Content Placeholder 13" descr="A graph with a line and a blue line&#10;&#10;AI-generated content may be incorrect.">
            <a:extLst>
              <a:ext uri="{FF2B5EF4-FFF2-40B4-BE49-F238E27FC236}">
                <a16:creationId xmlns:a16="http://schemas.microsoft.com/office/drawing/2014/main" id="{ABB866E8-E1D2-15A4-F8A4-18F32072CDAD}"/>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72201" y="3005207"/>
            <a:ext cx="5340350" cy="3051628"/>
          </a:xfrm>
        </p:spPr>
      </p:pic>
      <p:pic>
        <p:nvPicPr>
          <p:cNvPr id="16" name="Picture 15" descr="A screenshot of a computer code&#10;&#10;AI-generated content may be incorrect.">
            <a:extLst>
              <a:ext uri="{FF2B5EF4-FFF2-40B4-BE49-F238E27FC236}">
                <a16:creationId xmlns:a16="http://schemas.microsoft.com/office/drawing/2014/main" id="{7E1DD8ED-D59A-2029-AE51-D38A994A4A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0950" y="1019826"/>
            <a:ext cx="8907118" cy="1991731"/>
          </a:xfrm>
          <a:prstGeom prst="rect">
            <a:avLst/>
          </a:prstGeom>
        </p:spPr>
      </p:pic>
      <p:sp>
        <p:nvSpPr>
          <p:cNvPr id="17" name="TextBox 16">
            <a:extLst>
              <a:ext uri="{FF2B5EF4-FFF2-40B4-BE49-F238E27FC236}">
                <a16:creationId xmlns:a16="http://schemas.microsoft.com/office/drawing/2014/main" id="{1407B22D-DC59-C616-22CC-978DE2AC4249}"/>
              </a:ext>
            </a:extLst>
          </p:cNvPr>
          <p:cNvSpPr txBox="1"/>
          <p:nvPr/>
        </p:nvSpPr>
        <p:spPr>
          <a:xfrm>
            <a:off x="1328823" y="2952830"/>
            <a:ext cx="3230217" cy="369332"/>
          </a:xfrm>
          <a:prstGeom prst="rect">
            <a:avLst/>
          </a:prstGeom>
          <a:noFill/>
        </p:spPr>
        <p:txBody>
          <a:bodyPr wrap="square" rtlCol="0">
            <a:spAutoFit/>
          </a:bodyPr>
          <a:lstStyle/>
          <a:p>
            <a:r>
              <a:rPr lang="en-IN" dirty="0"/>
              <a:t>Elbow Method Analysis</a:t>
            </a:r>
          </a:p>
        </p:txBody>
      </p:sp>
    </p:spTree>
    <p:extLst>
      <p:ext uri="{BB962C8B-B14F-4D97-AF65-F5344CB8AC3E}">
        <p14:creationId xmlns:p14="http://schemas.microsoft.com/office/powerpoint/2010/main" val="4006012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C70D1-4212-1A55-D25F-1B6A4BC6785F}"/>
              </a:ext>
            </a:extLst>
          </p:cNvPr>
          <p:cNvSpPr>
            <a:spLocks noGrp="1"/>
          </p:cNvSpPr>
          <p:nvPr>
            <p:ph type="title"/>
          </p:nvPr>
        </p:nvSpPr>
        <p:spPr/>
        <p:txBody>
          <a:bodyPr>
            <a:normAutofit fontScale="90000"/>
          </a:bodyPr>
          <a:lstStyle/>
          <a:p>
            <a:r>
              <a:rPr lang="en-US" dirty="0"/>
              <a:t>Hierarchical Clustering </a:t>
            </a:r>
            <a:r>
              <a:rPr lang="en-IN" sz="3600" dirty="0"/>
              <a:t>Explained</a:t>
            </a:r>
            <a:br>
              <a:rPr lang="en-IN" sz="3600" dirty="0"/>
            </a:br>
            <a:br>
              <a:rPr lang="en-US" dirty="0"/>
            </a:br>
            <a:endParaRPr lang="en-IN" dirty="0"/>
          </a:p>
        </p:txBody>
      </p:sp>
      <p:sp>
        <p:nvSpPr>
          <p:cNvPr id="3" name="Content Placeholder 2">
            <a:extLst>
              <a:ext uri="{FF2B5EF4-FFF2-40B4-BE49-F238E27FC236}">
                <a16:creationId xmlns:a16="http://schemas.microsoft.com/office/drawing/2014/main" id="{DEC34DF8-6312-003B-682E-FDB2EE48CC63}"/>
              </a:ext>
            </a:extLst>
          </p:cNvPr>
          <p:cNvSpPr>
            <a:spLocks noGrp="1"/>
          </p:cNvSpPr>
          <p:nvPr>
            <p:ph idx="1"/>
          </p:nvPr>
        </p:nvSpPr>
        <p:spPr/>
        <p:txBody>
          <a:bodyPr/>
          <a:lstStyle/>
          <a:p>
            <a:pPr lvl="1"/>
            <a:r>
              <a:rPr lang="en-US" b="1" dirty="0"/>
              <a:t>Methodology</a:t>
            </a:r>
            <a:r>
              <a:rPr lang="en-US" dirty="0"/>
              <a:t>: Explain the bottom-up approach of agglomerative clustering, which groups data points into a hierarchy of clusters.</a:t>
            </a:r>
          </a:p>
          <a:p>
            <a:pPr lvl="1"/>
            <a:r>
              <a:rPr lang="en-US" b="1" dirty="0"/>
              <a:t>Dendrogram Analysis</a:t>
            </a:r>
            <a:r>
              <a:rPr lang="en-US" dirty="0"/>
              <a:t>: Describe how to use a dendrogram to visualize the clustering process and select the optimal number of clusters.</a:t>
            </a:r>
          </a:p>
          <a:p>
            <a:pPr lvl="1"/>
            <a:r>
              <a:rPr lang="en-US" b="1" dirty="0"/>
              <a:t>Implementation</a:t>
            </a:r>
            <a:r>
              <a:rPr lang="en-US" dirty="0"/>
              <a:t>: Steps for applying the hierarchical clustering algorithm.</a:t>
            </a:r>
          </a:p>
          <a:p>
            <a:pPr lvl="1"/>
            <a:r>
              <a:rPr lang="en-US" b="1" dirty="0"/>
              <a:t>Resulting Clusters</a:t>
            </a:r>
            <a:r>
              <a:rPr lang="en-US" dirty="0"/>
              <a:t>: Present the customer segments from the hierarchical model.</a:t>
            </a:r>
          </a:p>
        </p:txBody>
      </p:sp>
    </p:spTree>
    <p:extLst>
      <p:ext uri="{BB962C8B-B14F-4D97-AF65-F5344CB8AC3E}">
        <p14:creationId xmlns:p14="http://schemas.microsoft.com/office/powerpoint/2010/main" val="1673021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2D82281-60E2-AFF9-BF49-3D0531BDFC45}"/>
              </a:ext>
            </a:extLst>
          </p:cNvPr>
          <p:cNvSpPr>
            <a:spLocks noGrp="1"/>
          </p:cNvSpPr>
          <p:nvPr>
            <p:ph type="body" idx="1"/>
          </p:nvPr>
        </p:nvSpPr>
        <p:spPr>
          <a:xfrm>
            <a:off x="152107" y="184506"/>
            <a:ext cx="5318693" cy="655349"/>
          </a:xfrm>
        </p:spPr>
        <p:txBody>
          <a:bodyPr/>
          <a:lstStyle/>
          <a:p>
            <a:r>
              <a:rPr lang="en-US" dirty="0"/>
              <a:t>Hierarchical Clustering Visualizing</a:t>
            </a:r>
            <a:endParaRPr lang="en-IN" dirty="0"/>
          </a:p>
        </p:txBody>
      </p:sp>
      <p:pic>
        <p:nvPicPr>
          <p:cNvPr id="10" name="Content Placeholder 9" descr="A diagram of a graph&#10;&#10;AI-generated content may be incorrect.">
            <a:extLst>
              <a:ext uri="{FF2B5EF4-FFF2-40B4-BE49-F238E27FC236}">
                <a16:creationId xmlns:a16="http://schemas.microsoft.com/office/drawing/2014/main" id="{FAFF5CBB-4C85-5B37-0DC5-91FF8B06B3A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47788" y="3050258"/>
            <a:ext cx="5318125" cy="3038928"/>
          </a:xfrm>
        </p:spPr>
      </p:pic>
      <p:pic>
        <p:nvPicPr>
          <p:cNvPr id="14" name="Content Placeholder 13" descr="A graph with a line and a number of clusters&#10;&#10;AI-generated content may be incorrect.">
            <a:extLst>
              <a:ext uri="{FF2B5EF4-FFF2-40B4-BE49-F238E27FC236}">
                <a16:creationId xmlns:a16="http://schemas.microsoft.com/office/drawing/2014/main" id="{173EFC43-5DB8-3692-4062-DE672F46FFF7}"/>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893904" y="3050258"/>
            <a:ext cx="5340350" cy="3051628"/>
          </a:xfrm>
        </p:spPr>
      </p:pic>
      <p:sp>
        <p:nvSpPr>
          <p:cNvPr id="12" name="TextBox 11">
            <a:extLst>
              <a:ext uri="{FF2B5EF4-FFF2-40B4-BE49-F238E27FC236}">
                <a16:creationId xmlns:a16="http://schemas.microsoft.com/office/drawing/2014/main" id="{87B8CB26-5E59-DD45-2516-DA59267ADFA2}"/>
              </a:ext>
            </a:extLst>
          </p:cNvPr>
          <p:cNvSpPr txBox="1"/>
          <p:nvPr/>
        </p:nvSpPr>
        <p:spPr>
          <a:xfrm>
            <a:off x="1117806" y="3050258"/>
            <a:ext cx="3578087" cy="377273"/>
          </a:xfrm>
          <a:prstGeom prst="rect">
            <a:avLst/>
          </a:prstGeom>
          <a:noFill/>
        </p:spPr>
        <p:txBody>
          <a:bodyPr wrap="square" rtlCol="0">
            <a:spAutoFit/>
          </a:bodyPr>
          <a:lstStyle/>
          <a:p>
            <a:r>
              <a:rPr lang="en-IN" dirty="0"/>
              <a:t>Dendrogram Method Analysis</a:t>
            </a:r>
          </a:p>
        </p:txBody>
      </p:sp>
      <p:pic>
        <p:nvPicPr>
          <p:cNvPr id="16" name="Picture 15" descr="A screenshot of a computer code&#10;&#10;AI-generated content may be incorrect.">
            <a:extLst>
              <a:ext uri="{FF2B5EF4-FFF2-40B4-BE49-F238E27FC236}">
                <a16:creationId xmlns:a16="http://schemas.microsoft.com/office/drawing/2014/main" id="{AD3D1AFA-7D42-8603-3D1D-4F6262E455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9911" y="1040759"/>
            <a:ext cx="10002646" cy="1692501"/>
          </a:xfrm>
          <a:prstGeom prst="rect">
            <a:avLst/>
          </a:prstGeom>
        </p:spPr>
      </p:pic>
    </p:spTree>
    <p:extLst>
      <p:ext uri="{BB962C8B-B14F-4D97-AF65-F5344CB8AC3E}">
        <p14:creationId xmlns:p14="http://schemas.microsoft.com/office/powerpoint/2010/main" val="3849180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2F224-5DC3-2B20-4530-EDA35FD6C110}"/>
              </a:ext>
            </a:extLst>
          </p:cNvPr>
          <p:cNvSpPr>
            <a:spLocks noGrp="1"/>
          </p:cNvSpPr>
          <p:nvPr>
            <p:ph type="title"/>
          </p:nvPr>
        </p:nvSpPr>
        <p:spPr/>
        <p:txBody>
          <a:bodyPr>
            <a:normAutofit fontScale="90000"/>
          </a:bodyPr>
          <a:lstStyle/>
          <a:p>
            <a:r>
              <a:rPr lang="en-US" dirty="0"/>
              <a:t>Density-Based Spatial Clustering of Applications with Noise(</a:t>
            </a:r>
            <a:r>
              <a:rPr lang="en-IN" dirty="0"/>
              <a:t>DBSCAN) Clustering </a:t>
            </a:r>
            <a:r>
              <a:rPr lang="en-IN" sz="3600" dirty="0"/>
              <a:t>Explained</a:t>
            </a:r>
            <a:br>
              <a:rPr lang="en-IN" sz="3600" dirty="0"/>
            </a:br>
            <a:br>
              <a:rPr lang="en-IN" dirty="0"/>
            </a:br>
            <a:endParaRPr lang="en-IN" dirty="0"/>
          </a:p>
        </p:txBody>
      </p:sp>
      <p:sp>
        <p:nvSpPr>
          <p:cNvPr id="3" name="Content Placeholder 2">
            <a:extLst>
              <a:ext uri="{FF2B5EF4-FFF2-40B4-BE49-F238E27FC236}">
                <a16:creationId xmlns:a16="http://schemas.microsoft.com/office/drawing/2014/main" id="{3F119B6C-8E48-AAAA-35E7-C51771FC4159}"/>
              </a:ext>
            </a:extLst>
          </p:cNvPr>
          <p:cNvSpPr>
            <a:spLocks noGrp="1"/>
          </p:cNvSpPr>
          <p:nvPr>
            <p:ph idx="1"/>
          </p:nvPr>
        </p:nvSpPr>
        <p:spPr/>
        <p:txBody>
          <a:bodyPr/>
          <a:lstStyle/>
          <a:p>
            <a:r>
              <a:rPr lang="en-IN" dirty="0"/>
              <a:t>Methodology: Explain how DBSCAN identifies clusters based on data point density, effectively handling clusters of arbitrary shape and detecting outliers.</a:t>
            </a:r>
          </a:p>
          <a:p>
            <a:r>
              <a:rPr lang="en-IN" dirty="0"/>
              <a:t>Parameter Selection: Discuss the importance of selecting the (epsilon) and </a:t>
            </a:r>
            <a:r>
              <a:rPr lang="en-IN" dirty="0" err="1"/>
              <a:t>minPts</a:t>
            </a:r>
            <a:r>
              <a:rPr lang="en-IN" dirty="0"/>
              <a:t> parameters.</a:t>
            </a:r>
          </a:p>
          <a:p>
            <a:r>
              <a:rPr lang="en-IN" dirty="0"/>
              <a:t>Implementation: Steps for applying the DBSCAN algorithm.</a:t>
            </a:r>
          </a:p>
          <a:p>
            <a:r>
              <a:rPr lang="en-IN" dirty="0"/>
              <a:t>Resulting Clusters: Present the discovered clusters and identify noise points. </a:t>
            </a:r>
          </a:p>
        </p:txBody>
      </p:sp>
    </p:spTree>
    <p:extLst>
      <p:ext uri="{BB962C8B-B14F-4D97-AF65-F5344CB8AC3E}">
        <p14:creationId xmlns:p14="http://schemas.microsoft.com/office/powerpoint/2010/main" val="255245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ABCA30-22A6-E11D-39D1-13E336A87ABD}"/>
              </a:ext>
            </a:extLst>
          </p:cNvPr>
          <p:cNvSpPr>
            <a:spLocks noGrp="1"/>
          </p:cNvSpPr>
          <p:nvPr>
            <p:ph type="title"/>
          </p:nvPr>
        </p:nvSpPr>
        <p:spPr>
          <a:xfrm>
            <a:off x="232189" y="146049"/>
            <a:ext cx="10834233" cy="612775"/>
          </a:xfrm>
        </p:spPr>
        <p:txBody>
          <a:bodyPr>
            <a:normAutofit fontScale="90000"/>
          </a:bodyPr>
          <a:lstStyle/>
          <a:p>
            <a:r>
              <a:rPr lang="en-IN" dirty="0"/>
              <a:t>DBSCAN </a:t>
            </a:r>
            <a:r>
              <a:rPr lang="en-US" dirty="0"/>
              <a:t>Clustering Visualizing</a:t>
            </a:r>
            <a:br>
              <a:rPr lang="en-IN" dirty="0"/>
            </a:br>
            <a:endParaRPr lang="en-IN" dirty="0"/>
          </a:p>
        </p:txBody>
      </p:sp>
      <p:pic>
        <p:nvPicPr>
          <p:cNvPr id="8" name="Content Placeholder 7" descr="A graph with a line going up&#10;&#10;AI-generated content may be incorrect.">
            <a:extLst>
              <a:ext uri="{FF2B5EF4-FFF2-40B4-BE49-F238E27FC236}">
                <a16:creationId xmlns:a16="http://schemas.microsoft.com/office/drawing/2014/main" id="{86A61263-1BCC-9487-2435-6EDABCB6E2E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71591" y="2872410"/>
            <a:ext cx="5340350" cy="3316218"/>
          </a:xfrm>
        </p:spPr>
      </p:pic>
      <p:pic>
        <p:nvPicPr>
          <p:cNvPr id="24" name="Picture 23" descr="A screenshot of a computer program&#10;&#10;AI-generated content may be incorrect.">
            <a:extLst>
              <a:ext uri="{FF2B5EF4-FFF2-40B4-BE49-F238E27FC236}">
                <a16:creationId xmlns:a16="http://schemas.microsoft.com/office/drawing/2014/main" id="{13C8C507-9784-382C-EB66-989D388789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189" y="620513"/>
            <a:ext cx="7887801" cy="2251897"/>
          </a:xfrm>
          <a:prstGeom prst="rect">
            <a:avLst/>
          </a:prstGeom>
        </p:spPr>
      </p:pic>
      <p:pic>
        <p:nvPicPr>
          <p:cNvPr id="28" name="Content Placeholder 27" descr="A green and blue dots&#10;&#10;AI-generated content may be incorrect.">
            <a:extLst>
              <a:ext uri="{FF2B5EF4-FFF2-40B4-BE49-F238E27FC236}">
                <a16:creationId xmlns:a16="http://schemas.microsoft.com/office/drawing/2014/main" id="{953641CE-676F-4412-C0BF-E66230A2F4BD}"/>
              </a:ext>
            </a:extLst>
          </p:cNvPr>
          <p:cNvPicPr>
            <a:picLocks noGrp="1" noChangeAspect="1"/>
          </p:cNvPicPr>
          <p:nvPr>
            <p:ph sz="half" idx="1"/>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254125" y="2872410"/>
            <a:ext cx="4191000" cy="3102146"/>
          </a:xfrm>
        </p:spPr>
      </p:pic>
      <p:sp>
        <p:nvSpPr>
          <p:cNvPr id="29" name="TextBox 28">
            <a:extLst>
              <a:ext uri="{FF2B5EF4-FFF2-40B4-BE49-F238E27FC236}">
                <a16:creationId xmlns:a16="http://schemas.microsoft.com/office/drawing/2014/main" id="{3A40B334-151A-86FC-83FD-C75327D0061A}"/>
              </a:ext>
            </a:extLst>
          </p:cNvPr>
          <p:cNvSpPr txBox="1"/>
          <p:nvPr/>
        </p:nvSpPr>
        <p:spPr>
          <a:xfrm>
            <a:off x="1254125" y="5974556"/>
            <a:ext cx="4191000" cy="230832"/>
          </a:xfrm>
          <a:prstGeom prst="rect">
            <a:avLst/>
          </a:prstGeom>
          <a:noFill/>
        </p:spPr>
        <p:txBody>
          <a:bodyPr wrap="square" rtlCol="0">
            <a:spAutoFit/>
          </a:bodyPr>
          <a:lstStyle/>
          <a:p>
            <a:r>
              <a:rPr lang="en-IN" sz="900">
                <a:hlinkClick r:id="rId5" tooltip="https://en.wikipedia.org/wiki/DBSCAN"/>
              </a:rPr>
              <a:t>This Photo</a:t>
            </a:r>
            <a:r>
              <a:rPr lang="en-IN" sz="900"/>
              <a:t> by Unknown Author is licensed under </a:t>
            </a:r>
            <a:r>
              <a:rPr lang="en-IN" sz="900">
                <a:hlinkClick r:id="rId6" tooltip="https://creativecommons.org/licenses/by-sa/3.0/"/>
              </a:rPr>
              <a:t>CC BY-SA</a:t>
            </a:r>
            <a:endParaRPr lang="en-IN" sz="900"/>
          </a:p>
        </p:txBody>
      </p:sp>
    </p:spTree>
    <p:extLst>
      <p:ext uri="{BB962C8B-B14F-4D97-AF65-F5344CB8AC3E}">
        <p14:creationId xmlns:p14="http://schemas.microsoft.com/office/powerpoint/2010/main" val="3522464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BD355-B318-17C7-053C-02869D3BD4F7}"/>
              </a:ext>
            </a:extLst>
          </p:cNvPr>
          <p:cNvSpPr>
            <a:spLocks noGrp="1"/>
          </p:cNvSpPr>
          <p:nvPr>
            <p:ph type="title"/>
          </p:nvPr>
        </p:nvSpPr>
        <p:spPr/>
        <p:txBody>
          <a:bodyPr>
            <a:normAutofit fontScale="90000"/>
          </a:bodyPr>
          <a:lstStyle/>
          <a:p>
            <a:r>
              <a:rPr lang="en-US" dirty="0"/>
              <a:t>Analysis and Comparison of Models</a:t>
            </a:r>
            <a:br>
              <a:rPr lang="en-US" dirty="0"/>
            </a:br>
            <a:endParaRPr lang="en-IN" dirty="0"/>
          </a:p>
        </p:txBody>
      </p:sp>
      <p:sp>
        <p:nvSpPr>
          <p:cNvPr id="3" name="Content Placeholder 2">
            <a:extLst>
              <a:ext uri="{FF2B5EF4-FFF2-40B4-BE49-F238E27FC236}">
                <a16:creationId xmlns:a16="http://schemas.microsoft.com/office/drawing/2014/main" id="{D3EFEB57-A561-6EE3-56CA-32298EE075F3}"/>
              </a:ext>
            </a:extLst>
          </p:cNvPr>
          <p:cNvSpPr>
            <a:spLocks noGrp="1"/>
          </p:cNvSpPr>
          <p:nvPr>
            <p:ph idx="1"/>
          </p:nvPr>
        </p:nvSpPr>
        <p:spPr/>
        <p:txBody>
          <a:bodyPr>
            <a:normAutofit lnSpcReduction="10000"/>
          </a:bodyPr>
          <a:lstStyle/>
          <a:p>
            <a:r>
              <a:rPr lang="en-US" b="1" dirty="0"/>
              <a:t>Cluster Interpretation</a:t>
            </a:r>
            <a:r>
              <a:rPr lang="en-US" dirty="0"/>
              <a:t>: Analyze and describe the characteristics of the customer segments found by each model. For example, a "High-Value" segment with high RFM scores.</a:t>
            </a:r>
          </a:p>
          <a:p>
            <a:r>
              <a:rPr lang="en-US" b="1" dirty="0"/>
              <a:t>Model Performance Comparison</a:t>
            </a:r>
            <a:r>
              <a:rPr lang="en-US" dirty="0"/>
              <a:t>: Compare the different algorithms based on their strengths and weaknesses.</a:t>
            </a:r>
          </a:p>
          <a:p>
            <a:pPr lvl="1"/>
            <a:r>
              <a:rPr lang="en-US" dirty="0"/>
              <a:t>K-Means is efficient but sensitive to the initial number of clusters.</a:t>
            </a:r>
          </a:p>
          <a:p>
            <a:pPr lvl="1"/>
            <a:r>
              <a:rPr lang="en-US" dirty="0"/>
              <a:t>Hierarchical clustering provides a visual hierarchy but can be computationally expensive.</a:t>
            </a:r>
          </a:p>
          <a:p>
            <a:pPr lvl="1"/>
            <a:r>
              <a:rPr lang="en-US" dirty="0"/>
              <a:t>DBSCAN handles arbitrary shapes and outliers well but can struggle with varying density.</a:t>
            </a:r>
          </a:p>
          <a:p>
            <a:r>
              <a:rPr lang="en-US" b="1" dirty="0"/>
              <a:t>Choosing the Best Model</a:t>
            </a:r>
            <a:r>
              <a:rPr lang="en-US" dirty="0"/>
              <a:t>: Justify the selection of the most suitable clustering algorithm for this specific business problem. </a:t>
            </a:r>
          </a:p>
          <a:p>
            <a:endParaRPr lang="en-IN" dirty="0"/>
          </a:p>
        </p:txBody>
      </p:sp>
    </p:spTree>
    <p:extLst>
      <p:ext uri="{BB962C8B-B14F-4D97-AF65-F5344CB8AC3E}">
        <p14:creationId xmlns:p14="http://schemas.microsoft.com/office/powerpoint/2010/main" val="6683434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86C8EE98-3137-A799-2C25-4EC65539CFD0}"/>
              </a:ext>
            </a:extLst>
          </p:cNvPr>
          <p:cNvSpPr>
            <a:spLocks noGrp="1"/>
          </p:cNvSpPr>
          <p:nvPr>
            <p:ph type="title"/>
          </p:nvPr>
        </p:nvSpPr>
        <p:spPr/>
        <p:txBody>
          <a:bodyPr/>
          <a:lstStyle/>
          <a:p>
            <a:r>
              <a:rPr lang="en-IN" dirty="0"/>
              <a:t>Customer Segments Analysis</a:t>
            </a:r>
          </a:p>
        </p:txBody>
      </p:sp>
      <p:sp>
        <p:nvSpPr>
          <p:cNvPr id="12" name="Content Placeholder 11">
            <a:extLst>
              <a:ext uri="{FF2B5EF4-FFF2-40B4-BE49-F238E27FC236}">
                <a16:creationId xmlns:a16="http://schemas.microsoft.com/office/drawing/2014/main" id="{80D29523-3C5A-50E4-A9B7-A7F672181E25}"/>
              </a:ext>
            </a:extLst>
          </p:cNvPr>
          <p:cNvSpPr>
            <a:spLocks noGrp="1"/>
          </p:cNvSpPr>
          <p:nvPr>
            <p:ph idx="1"/>
          </p:nvPr>
        </p:nvSpPr>
        <p:spPr/>
        <p:txBody>
          <a:bodyPr>
            <a:normAutofit/>
          </a:bodyPr>
          <a:lstStyle/>
          <a:p>
            <a:r>
              <a:rPr lang="en-US" sz="2000" b="1" dirty="0"/>
              <a:t>Summary of Clustering Results and Business Implications</a:t>
            </a:r>
            <a:endParaRPr lang="en-US" sz="2000" dirty="0"/>
          </a:p>
          <a:p>
            <a:r>
              <a:rPr lang="en-US" sz="2000" dirty="0"/>
              <a:t>Based on the silhouette scores and the characteristics of the clusters identified by each algorithm:</a:t>
            </a:r>
          </a:p>
          <a:p>
            <a:r>
              <a:rPr lang="en-US" sz="2000" b="1" dirty="0"/>
              <a:t>K-Means Clustering:</a:t>
            </a:r>
            <a:r>
              <a:rPr lang="en-US" sz="2000" dirty="0"/>
              <a:t> Identified four distinct customer segments with varying levels of Recency, Frequency, and Monetary value. These segments are useful for targeted marketing campaigns, such as:</a:t>
            </a:r>
          </a:p>
          <a:p>
            <a:pPr lvl="1"/>
            <a:r>
              <a:rPr lang="en-US" sz="2000" b="1" dirty="0"/>
              <a:t>High-Value Customers (Cluster 1):</a:t>
            </a:r>
            <a:r>
              <a:rPr lang="en-US" sz="2000" dirty="0"/>
              <a:t> Reward programs, exclusive offers, and loyalty building initiatives.</a:t>
            </a:r>
          </a:p>
          <a:p>
            <a:pPr lvl="1"/>
            <a:r>
              <a:rPr lang="en-US" sz="2000" b="1" dirty="0"/>
              <a:t>Lapsed/Low-Value Customers (Cluster 0):</a:t>
            </a:r>
            <a:r>
              <a:rPr lang="en-US" sz="2000" dirty="0"/>
              <a:t> Re-engagement campaigns with special discounts or promotions.</a:t>
            </a:r>
          </a:p>
          <a:p>
            <a:pPr lvl="1"/>
            <a:r>
              <a:rPr lang="en-US" sz="2000" b="1" dirty="0"/>
              <a:t>Churned/Inactive Customers (Cluster 2):</a:t>
            </a:r>
            <a:r>
              <a:rPr lang="en-US" sz="2000" dirty="0"/>
              <a:t> Win-back strategies or analyzing reasons for churn.</a:t>
            </a:r>
          </a:p>
          <a:p>
            <a:pPr lvl="1"/>
            <a:r>
              <a:rPr lang="en-US" sz="2000" b="1" dirty="0"/>
              <a:t>Occasional Customers (Cluster 3):</a:t>
            </a:r>
            <a:r>
              <a:rPr lang="en-US" sz="2000" dirty="0"/>
              <a:t> Encouraging repeat purchases and increasing engagement.</a:t>
            </a:r>
          </a:p>
          <a:p>
            <a:endParaRPr lang="en-IN" sz="2000" dirty="0"/>
          </a:p>
        </p:txBody>
      </p:sp>
    </p:spTree>
    <p:extLst>
      <p:ext uri="{BB962C8B-B14F-4D97-AF65-F5344CB8AC3E}">
        <p14:creationId xmlns:p14="http://schemas.microsoft.com/office/powerpoint/2010/main" val="7078295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screenshot of a computer&#10;&#10;AI-generated content may be incorrect.">
            <a:extLst>
              <a:ext uri="{FF2B5EF4-FFF2-40B4-BE49-F238E27FC236}">
                <a16:creationId xmlns:a16="http://schemas.microsoft.com/office/drawing/2014/main" id="{4FEC3783-F9D9-398A-D2D7-F99414DB1E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29000"/>
            <a:ext cx="12105861" cy="2633870"/>
          </a:xfrm>
          <a:prstGeom prst="rect">
            <a:avLst/>
          </a:prstGeom>
        </p:spPr>
      </p:pic>
      <p:sp>
        <p:nvSpPr>
          <p:cNvPr id="5" name="Content Placeholder 4">
            <a:extLst>
              <a:ext uri="{FF2B5EF4-FFF2-40B4-BE49-F238E27FC236}">
                <a16:creationId xmlns:a16="http://schemas.microsoft.com/office/drawing/2014/main" id="{7026B685-EDFC-68EC-61B8-16D9E3838F5B}"/>
              </a:ext>
            </a:extLst>
          </p:cNvPr>
          <p:cNvSpPr>
            <a:spLocks noGrp="1"/>
          </p:cNvSpPr>
          <p:nvPr>
            <p:ph idx="1"/>
          </p:nvPr>
        </p:nvSpPr>
        <p:spPr>
          <a:xfrm>
            <a:off x="678882" y="154388"/>
            <a:ext cx="10834234" cy="2867108"/>
          </a:xfrm>
        </p:spPr>
        <p:txBody>
          <a:bodyPr>
            <a:noAutofit/>
          </a:bodyPr>
          <a:lstStyle/>
          <a:p>
            <a:r>
              <a:rPr lang="en-US" sz="1800" b="1" dirty="0"/>
              <a:t>Hierarchical Clustering:</a:t>
            </a:r>
            <a:r>
              <a:rPr lang="en-US" sz="1800" dirty="0"/>
              <a:t> Similar to K-Means, it also identified segments with comparable characteristics. The slightly higher silhouette score suggests that the boundaries between these segments might be a bit clearer. The business implications are similar to those of K-Means, allowing for targeted strategies based on the identified customer groups.</a:t>
            </a:r>
          </a:p>
          <a:p>
            <a:r>
              <a:rPr lang="en-US" sz="1800" b="1" dirty="0"/>
              <a:t>DBSCAN Clustering:</a:t>
            </a:r>
            <a:r>
              <a:rPr lang="en-US" sz="1800" dirty="0"/>
              <a:t> This method identified a large core group of typical customers and successfully isolated a small number of outliers with extremely high frequency and monetary values.</a:t>
            </a:r>
          </a:p>
          <a:p>
            <a:pPr lvl="1"/>
            <a:r>
              <a:rPr lang="en-US" sz="1800" b="1" dirty="0"/>
              <a:t>Core Group (Cluster 0):</a:t>
            </a:r>
            <a:r>
              <a:rPr lang="en-US" sz="1800" dirty="0"/>
              <a:t> Represents the majority of customers and can be targeted with general marketing efforts and promotions.</a:t>
            </a:r>
          </a:p>
          <a:p>
            <a:pPr lvl="1"/>
            <a:r>
              <a:rPr lang="en-US" sz="1800" b="1" dirty="0"/>
              <a:t>Outliers (Cluster -1):</a:t>
            </a:r>
            <a:r>
              <a:rPr lang="en-US" sz="1800" dirty="0"/>
              <a:t> These could be </a:t>
            </a:r>
            <a:r>
              <a:rPr lang="en-US" sz="2000" dirty="0"/>
              <a:t>valuable</a:t>
            </a:r>
            <a:r>
              <a:rPr lang="en-US" sz="1800" dirty="0"/>
              <a:t> wholesale customers or very significant individual buyers. They might require personalized attention and tailored strategies rather than broad marketing campaigns.</a:t>
            </a:r>
          </a:p>
          <a:p>
            <a:endParaRPr lang="en-IN" sz="1800" dirty="0"/>
          </a:p>
        </p:txBody>
      </p:sp>
    </p:spTree>
    <p:extLst>
      <p:ext uri="{BB962C8B-B14F-4D97-AF65-F5344CB8AC3E}">
        <p14:creationId xmlns:p14="http://schemas.microsoft.com/office/powerpoint/2010/main" val="28556957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0A62A-6A12-FD1B-C9D5-2C8524B6023E}"/>
              </a:ext>
            </a:extLst>
          </p:cNvPr>
          <p:cNvSpPr>
            <a:spLocks noGrp="1"/>
          </p:cNvSpPr>
          <p:nvPr>
            <p:ph type="title"/>
          </p:nvPr>
        </p:nvSpPr>
        <p:spPr>
          <a:xfrm>
            <a:off x="589998" y="1"/>
            <a:ext cx="4339811" cy="337930"/>
          </a:xfrm>
        </p:spPr>
        <p:txBody>
          <a:bodyPr>
            <a:normAutofit fontScale="90000"/>
          </a:bodyPr>
          <a:lstStyle/>
          <a:p>
            <a:r>
              <a:rPr lang="en-IN" dirty="0"/>
              <a:t>All cluster RFG’s </a:t>
            </a:r>
            <a:r>
              <a:rPr lang="en-IN" dirty="0" err="1"/>
              <a:t>ploting</a:t>
            </a:r>
            <a:r>
              <a:rPr lang="en-IN" dirty="0"/>
              <a:t>:</a:t>
            </a:r>
          </a:p>
        </p:txBody>
      </p:sp>
      <p:pic>
        <p:nvPicPr>
          <p:cNvPr id="5" name="Content Placeholder 4">
            <a:extLst>
              <a:ext uri="{FF2B5EF4-FFF2-40B4-BE49-F238E27FC236}">
                <a16:creationId xmlns:a16="http://schemas.microsoft.com/office/drawing/2014/main" id="{8B07B54E-6089-5802-5594-2DECB0D04D9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337932"/>
            <a:ext cx="12191999" cy="2007704"/>
          </a:xfrm>
        </p:spPr>
      </p:pic>
      <p:pic>
        <p:nvPicPr>
          <p:cNvPr id="7" name="Picture 6" descr="A graph with numbers and a number of points&#10;&#10;AI-generated content may be incorrect.">
            <a:extLst>
              <a:ext uri="{FF2B5EF4-FFF2-40B4-BE49-F238E27FC236}">
                <a16:creationId xmlns:a16="http://schemas.microsoft.com/office/drawing/2014/main" id="{D77D2D65-23DD-838C-56C7-B3387DA30D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345636"/>
            <a:ext cx="12192000" cy="2007705"/>
          </a:xfrm>
          <a:prstGeom prst="rect">
            <a:avLst/>
          </a:prstGeom>
        </p:spPr>
      </p:pic>
      <p:pic>
        <p:nvPicPr>
          <p:cNvPr id="9" name="Picture 8" descr="A graph with numbers and a dot&#10;&#10;AI-generated content may be incorrect.">
            <a:extLst>
              <a:ext uri="{FF2B5EF4-FFF2-40B4-BE49-F238E27FC236}">
                <a16:creationId xmlns:a16="http://schemas.microsoft.com/office/drawing/2014/main" id="{7BB9A233-FEDB-D7CE-1C5F-587268B2A3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4363278"/>
            <a:ext cx="12192000" cy="1769165"/>
          </a:xfrm>
          <a:prstGeom prst="rect">
            <a:avLst/>
          </a:prstGeom>
        </p:spPr>
      </p:pic>
    </p:spTree>
    <p:extLst>
      <p:ext uri="{BB962C8B-B14F-4D97-AF65-F5344CB8AC3E}">
        <p14:creationId xmlns:p14="http://schemas.microsoft.com/office/powerpoint/2010/main" val="3357235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37B1A-8802-2462-3C26-E45EAAE8716F}"/>
              </a:ext>
            </a:extLst>
          </p:cNvPr>
          <p:cNvSpPr>
            <a:spLocks noGrp="1"/>
          </p:cNvSpPr>
          <p:nvPr>
            <p:ph type="title"/>
          </p:nvPr>
        </p:nvSpPr>
        <p:spPr>
          <a:xfrm>
            <a:off x="589432" y="96770"/>
            <a:ext cx="10834234" cy="612775"/>
          </a:xfrm>
        </p:spPr>
        <p:txBody>
          <a:bodyPr>
            <a:normAutofit/>
          </a:bodyPr>
          <a:lstStyle/>
          <a:p>
            <a:r>
              <a:rPr lang="en-IN" dirty="0"/>
              <a:t>Actionable Marketing Strategies</a:t>
            </a:r>
          </a:p>
        </p:txBody>
      </p:sp>
      <p:sp>
        <p:nvSpPr>
          <p:cNvPr id="3" name="Content Placeholder 2">
            <a:extLst>
              <a:ext uri="{FF2B5EF4-FFF2-40B4-BE49-F238E27FC236}">
                <a16:creationId xmlns:a16="http://schemas.microsoft.com/office/drawing/2014/main" id="{7DE84C39-A180-0B97-E76F-6302827943A8}"/>
              </a:ext>
            </a:extLst>
          </p:cNvPr>
          <p:cNvSpPr>
            <a:spLocks noGrp="1"/>
          </p:cNvSpPr>
          <p:nvPr>
            <p:ph idx="1"/>
          </p:nvPr>
        </p:nvSpPr>
        <p:spPr>
          <a:xfrm>
            <a:off x="678884" y="1311965"/>
            <a:ext cx="10834234" cy="4761176"/>
          </a:xfrm>
        </p:spPr>
        <p:txBody>
          <a:bodyPr>
            <a:normAutofit fontScale="92500" lnSpcReduction="10000"/>
          </a:bodyPr>
          <a:lstStyle/>
          <a:p>
            <a:pPr marL="0" indent="0">
              <a:buNone/>
            </a:pPr>
            <a:r>
              <a:rPr lang="en-US" dirty="0"/>
              <a:t>Choosing the Best Clustering Method for Business Use:</a:t>
            </a:r>
            <a:br>
              <a:rPr lang="en-US" dirty="0"/>
            </a:br>
            <a:endParaRPr lang="en-US" dirty="0"/>
          </a:p>
          <a:p>
            <a:r>
              <a:rPr lang="en-US" dirty="0"/>
              <a:t>While silhouette scores provide a quantitative measure of cluster separation, the "best" clustering method also depends on the specific business objective.</a:t>
            </a:r>
          </a:p>
          <a:p>
            <a:r>
              <a:rPr lang="en-US" dirty="0"/>
              <a:t>If the goal is to </a:t>
            </a:r>
            <a:r>
              <a:rPr lang="en-US" b="1" dirty="0"/>
              <a:t>identify a fixed number of distinct customer groups</a:t>
            </a:r>
            <a:r>
              <a:rPr lang="en-US" dirty="0"/>
              <a:t> for broad marketing campaigns, </a:t>
            </a:r>
            <a:r>
              <a:rPr lang="en-US" b="1" dirty="0"/>
              <a:t>K-Means or Hierarchical Clustering</a:t>
            </a:r>
            <a:r>
              <a:rPr lang="en-US" dirty="0"/>
              <a:t> with a chosen number of clusters (e.g., 4) are suitable. The similarity in cluster characteristics between these two methods suggests they capture similar underlying patterns in the data.</a:t>
            </a:r>
          </a:p>
          <a:p>
            <a:r>
              <a:rPr lang="en-US" dirty="0"/>
              <a:t>If the goal is to </a:t>
            </a:r>
            <a:r>
              <a:rPr lang="en-US" b="1" dirty="0"/>
              <a:t>identify the main customer base and isolate extreme outliers</a:t>
            </a:r>
            <a:r>
              <a:rPr lang="en-US" dirty="0"/>
              <a:t> for special handling, </a:t>
            </a:r>
            <a:r>
              <a:rPr lang="en-US" b="1" dirty="0"/>
              <a:t>DBSCAN</a:t>
            </a:r>
            <a:r>
              <a:rPr lang="en-US" dirty="0"/>
              <a:t> is a valuable choice. The outliers identified by DBSCAN might be crucial for understanding exceptional cases and preventing their influence on the analysis of typical customers.</a:t>
            </a:r>
          </a:p>
          <a:p>
            <a:pPr marL="0" indent="0">
              <a:buNone/>
            </a:pPr>
            <a:endParaRPr lang="en-IN" dirty="0"/>
          </a:p>
        </p:txBody>
      </p:sp>
    </p:spTree>
    <p:extLst>
      <p:ext uri="{BB962C8B-B14F-4D97-AF65-F5344CB8AC3E}">
        <p14:creationId xmlns:p14="http://schemas.microsoft.com/office/powerpoint/2010/main" val="31936221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9A510F-7D72-06F1-C8B8-2EE340B84946}"/>
              </a:ext>
            </a:extLst>
          </p:cNvPr>
          <p:cNvSpPr>
            <a:spLocks noGrp="1"/>
          </p:cNvSpPr>
          <p:nvPr>
            <p:ph idx="1"/>
          </p:nvPr>
        </p:nvSpPr>
        <p:spPr>
          <a:xfrm>
            <a:off x="678884" y="536713"/>
            <a:ext cx="10834234" cy="5536428"/>
          </a:xfrm>
        </p:spPr>
        <p:txBody>
          <a:bodyPr>
            <a:normAutofit fontScale="92500" lnSpcReduction="20000"/>
          </a:bodyPr>
          <a:lstStyle/>
          <a:p>
            <a:r>
              <a:rPr lang="en-US" dirty="0"/>
              <a:t>In practice, it can be beneficial to explore the results of multiple clustering algorithms and choose the one that provides the most actionable and interpretable segments for the specific business needs. Further analysis of the characteristics of each cluster (beyond just the mean RFM values) can provide deeper insights into customer behavior within each segment.</a:t>
            </a:r>
          </a:p>
          <a:p>
            <a:r>
              <a:rPr lang="en-US" dirty="0"/>
              <a:t>These clusters represent customers who are likely not actively engaging with the business and may require specific strategies (like win-back campaigns) or further investigation into why they have become inactive.</a:t>
            </a:r>
          </a:p>
          <a:p>
            <a:r>
              <a:rPr lang="en-US" dirty="0"/>
              <a:t>Comparing the results, K-Means and Hierarchical Clustering with 4 clusters seem to identify similar types of segments (high-value, lapsed/low-value, inactive, and occasional). DBSCAN identifies a large core group and separates out extreme </a:t>
            </a:r>
            <a:r>
              <a:rPr lang="en-US" sz="2400" dirty="0"/>
              <a:t>outliers</a:t>
            </a:r>
            <a:r>
              <a:rPr lang="en-US" dirty="0"/>
              <a:t>. The choice of the "best" clustering depends on the specific business goal and which segmentation is most actionable. In practice, it can be beneficial to explore the results of multiple clustering algorithms and choose the one that provides the most actionable and interpretable segments for the specific business needs. Further analysis of the characteristics of each cluster (beyond just the mean RFM values) can provide deeper insights into customer behavior within each segment.</a:t>
            </a:r>
          </a:p>
          <a:p>
            <a:endParaRPr lang="en-IN" dirty="0"/>
          </a:p>
        </p:txBody>
      </p:sp>
    </p:spTree>
    <p:extLst>
      <p:ext uri="{BB962C8B-B14F-4D97-AF65-F5344CB8AC3E}">
        <p14:creationId xmlns:p14="http://schemas.microsoft.com/office/powerpoint/2010/main" val="40415527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3C9E9-1A0B-7285-345E-7FE4F7BB035A}"/>
              </a:ext>
            </a:extLst>
          </p:cNvPr>
          <p:cNvSpPr>
            <a:spLocks noGrp="1"/>
          </p:cNvSpPr>
          <p:nvPr>
            <p:ph type="title"/>
          </p:nvPr>
        </p:nvSpPr>
        <p:spPr/>
        <p:txBody>
          <a:bodyPr>
            <a:normAutofit fontScale="90000"/>
          </a:bodyPr>
          <a:lstStyle/>
          <a:p>
            <a:r>
              <a:rPr lang="en-US" dirty="0"/>
              <a:t>Conclusion and Recommendations</a:t>
            </a:r>
            <a:br>
              <a:rPr lang="en-US" dirty="0"/>
            </a:br>
            <a:endParaRPr lang="en-IN" dirty="0"/>
          </a:p>
        </p:txBody>
      </p:sp>
      <p:sp>
        <p:nvSpPr>
          <p:cNvPr id="3" name="Content Placeholder 2">
            <a:extLst>
              <a:ext uri="{FF2B5EF4-FFF2-40B4-BE49-F238E27FC236}">
                <a16:creationId xmlns:a16="http://schemas.microsoft.com/office/drawing/2014/main" id="{B4B44BB2-7FE5-0AB9-EC1F-71354A90A12A}"/>
              </a:ext>
            </a:extLst>
          </p:cNvPr>
          <p:cNvSpPr>
            <a:spLocks noGrp="1"/>
          </p:cNvSpPr>
          <p:nvPr>
            <p:ph idx="1"/>
          </p:nvPr>
        </p:nvSpPr>
        <p:spPr/>
        <p:txBody>
          <a:bodyPr/>
          <a:lstStyle/>
          <a:p>
            <a:r>
              <a:rPr lang="en-US" b="1" dirty="0"/>
              <a:t>Key Findings</a:t>
            </a:r>
            <a:r>
              <a:rPr lang="en-US" dirty="0"/>
              <a:t>: Summarize the most significant insights gleaned from the segmentation analysis.</a:t>
            </a:r>
          </a:p>
          <a:p>
            <a:r>
              <a:rPr lang="en-US" b="1" dirty="0"/>
              <a:t>Strategic Recommendations</a:t>
            </a:r>
            <a:r>
              <a:rPr lang="en-US" dirty="0"/>
              <a:t>: Suggest actionable business strategies tailored to each customer segment, such as personalized marketing campaigns, loyalty programs, or inventory optimization.</a:t>
            </a:r>
          </a:p>
          <a:p>
            <a:r>
              <a:rPr lang="en-US" b="1" dirty="0"/>
              <a:t>Future Work</a:t>
            </a:r>
            <a:r>
              <a:rPr lang="en-US" dirty="0"/>
              <a:t>: Outline potential next steps, such as integrating more data or deploying the model for real-time applications. </a:t>
            </a:r>
          </a:p>
          <a:p>
            <a:endParaRPr lang="en-IN" dirty="0"/>
          </a:p>
        </p:txBody>
      </p:sp>
    </p:spTree>
    <p:extLst>
      <p:ext uri="{BB962C8B-B14F-4D97-AF65-F5344CB8AC3E}">
        <p14:creationId xmlns:p14="http://schemas.microsoft.com/office/powerpoint/2010/main" val="249495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10634</TotalTime>
  <Words>1871</Words>
  <Application>Microsoft Office PowerPoint</Application>
  <PresentationFormat>Widescreen</PresentationFormat>
  <Paragraphs>111</Paragraphs>
  <Slides>29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Rockwell</vt:lpstr>
      <vt:lpstr>BIA Template</vt:lpstr>
      <vt:lpstr>PowerPoint Presentation</vt:lpstr>
      <vt:lpstr>Agenda</vt:lpstr>
      <vt:lpstr>Introduction </vt:lpstr>
      <vt:lpstr>Project Overview: </vt:lpstr>
      <vt:lpstr>Objectives </vt:lpstr>
      <vt:lpstr>Project Benefits: </vt:lpstr>
      <vt:lpstr>Necessary libraries import</vt:lpstr>
      <vt:lpstr> Data Collection and Preprocessing </vt:lpstr>
      <vt:lpstr>PowerPoint Presentation</vt:lpstr>
      <vt:lpstr>Data Cleaning and Transformation: Handling missing data, particularly missing customer IDs. Normalizing or scaling numerical features to ensure all models perform optimally.  </vt:lpstr>
      <vt:lpstr>PowerPoint Presentation</vt:lpstr>
      <vt:lpstr>Recency, Frequency, and Monetary (RFM) Analysis: Theory and Process: </vt:lpstr>
      <vt:lpstr>Recency, Frequency, and Monetary (RFM) Analysis: Results/Visualization </vt:lpstr>
      <vt:lpstr>Data scaling</vt:lpstr>
      <vt:lpstr>Clustering Algorithms: Introduction</vt:lpstr>
      <vt:lpstr>K-Means Clustering Explained</vt:lpstr>
      <vt:lpstr>PowerPoint Presentation</vt:lpstr>
      <vt:lpstr>Hierarchical Clustering Explained  </vt:lpstr>
      <vt:lpstr>PowerPoint Presentation</vt:lpstr>
      <vt:lpstr>Density-Based Spatial Clustering of Applications with Noise(DBSCAN) Clustering Explained  </vt:lpstr>
      <vt:lpstr>DBSCAN Clustering Visualizing </vt:lpstr>
      <vt:lpstr>Analysis and Comparison of Models </vt:lpstr>
      <vt:lpstr>Customer Segments Analysis</vt:lpstr>
      <vt:lpstr>PowerPoint Presentation</vt:lpstr>
      <vt:lpstr>All cluster RFG’s ploting:</vt:lpstr>
      <vt:lpstr>Actionable Marketing Strategies</vt:lpstr>
      <vt:lpstr>PowerPoint Presentation</vt:lpstr>
      <vt:lpstr>Conclusion and Recommendations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Gopal Baur</cp:lastModifiedBy>
  <cp:revision>2285</cp:revision>
  <dcterms:created xsi:type="dcterms:W3CDTF">2020-12-23T13:36:00Z</dcterms:created>
  <dcterms:modified xsi:type="dcterms:W3CDTF">2025-09-23T11:07:06Z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